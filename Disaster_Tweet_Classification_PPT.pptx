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Accuracy</c:v>
                </c:pt>
              </c:strCache>
            </c:strRef>
          </c:tx>
          <c:cat>
            <c:strRef>
              <c:f>Sheet1!$A$2:$A$4</c:f>
              <c:strCache>
                <c:ptCount val="3"/>
                <c:pt idx="0">
                  <c:v>Logistic Regression</c:v>
                </c:pt>
                <c:pt idx="1">
                  <c:v>Decision Tree</c:v>
                </c:pt>
                <c:pt idx="2">
                  <c:v>Random Forest</c:v>
                </c:pt>
              </c:strCache>
            </c:strRef>
          </c:cat>
          <c:val>
            <c:numRef>
              <c:f>Sheet1!$B$2:$B$4</c:f>
              <c:numCache>
                <c:formatCode>General</c:formatCode>
                <c:ptCount val="3"/>
                <c:pt idx="0">
                  <c:v>0.8168089297439265</c:v>
                </c:pt>
                <c:pt idx="1">
                  <c:v>0.7143795141168746</c:v>
                </c:pt>
                <c:pt idx="2">
                  <c:v>0.7432698621142482</c:v>
                </c:pt>
              </c:numCache>
            </c:numRef>
          </c:val>
        </c:ser>
        <c:ser>
          <c:idx val="1"/>
          <c:order val="1"/>
          <c:tx>
            <c:strRef>
              <c:f>Sheet1!$C$1</c:f>
              <c:strCache>
                <c:ptCount val="1"/>
                <c:pt idx="0">
                  <c:v>Precision</c:v>
                </c:pt>
              </c:strCache>
            </c:strRef>
          </c:tx>
          <c:cat>
            <c:strRef>
              <c:f>Sheet1!$A$2:$A$4</c:f>
              <c:strCache>
                <c:ptCount val="3"/>
                <c:pt idx="0">
                  <c:v>Logistic Regression</c:v>
                </c:pt>
                <c:pt idx="1">
                  <c:v>Decision Tree</c:v>
                </c:pt>
                <c:pt idx="2">
                  <c:v>Random Forest</c:v>
                </c:pt>
              </c:strCache>
            </c:strRef>
          </c:cat>
          <c:val>
            <c:numRef>
              <c:f>Sheet1!$C$2:$C$4</c:f>
              <c:numCache>
                <c:formatCode>General</c:formatCode>
                <c:ptCount val="3"/>
                <c:pt idx="0">
                  <c:v>0.8402903811252269</c:v>
                </c:pt>
                <c:pt idx="1">
                  <c:v>0.7295597484276729</c:v>
                </c:pt>
                <c:pt idx="2">
                  <c:v>0.9368770764119602</c:v>
                </c:pt>
              </c:numCache>
            </c:numRef>
          </c:val>
        </c:ser>
        <c:ser>
          <c:idx val="2"/>
          <c:order val="2"/>
          <c:tx>
            <c:strRef>
              <c:f>Sheet1!$D$1</c:f>
              <c:strCache>
                <c:ptCount val="1"/>
                <c:pt idx="0">
                  <c:v>Recall</c:v>
                </c:pt>
              </c:strCache>
            </c:strRef>
          </c:tx>
          <c:cat>
            <c:strRef>
              <c:f>Sheet1!$A$2:$A$4</c:f>
              <c:strCache>
                <c:ptCount val="3"/>
                <c:pt idx="0">
                  <c:v>Logistic Regression</c:v>
                </c:pt>
                <c:pt idx="1">
                  <c:v>Decision Tree</c:v>
                </c:pt>
                <c:pt idx="2">
                  <c:v>Random Forest</c:v>
                </c:pt>
              </c:strCache>
            </c:strRef>
          </c:cat>
          <c:val>
            <c:numRef>
              <c:f>Sheet1!$D$2:$D$4</c:f>
              <c:numCache>
                <c:formatCode>General</c:formatCode>
                <c:ptCount val="3"/>
                <c:pt idx="0">
                  <c:v>0.7079510703363915</c:v>
                </c:pt>
                <c:pt idx="1">
                  <c:v>0.5321100917431193</c:v>
                </c:pt>
                <c:pt idx="2">
                  <c:v>0.43119266055045874</c:v>
                </c:pt>
              </c:numCache>
            </c:numRef>
          </c:val>
        </c:ser>
        <c:ser>
          <c:idx val="3"/>
          <c:order val="3"/>
          <c:tx>
            <c:strRef>
              <c:f>Sheet1!$E$1</c:f>
              <c:strCache>
                <c:ptCount val="1"/>
                <c:pt idx="0">
                  <c:v>F1 Score</c:v>
                </c:pt>
              </c:strCache>
            </c:strRef>
          </c:tx>
          <c:cat>
            <c:strRef>
              <c:f>Sheet1!$A$2:$A$4</c:f>
              <c:strCache>
                <c:ptCount val="3"/>
                <c:pt idx="0">
                  <c:v>Logistic Regression</c:v>
                </c:pt>
                <c:pt idx="1">
                  <c:v>Decision Tree</c:v>
                </c:pt>
                <c:pt idx="2">
                  <c:v>Random Forest</c:v>
                </c:pt>
              </c:strCache>
            </c:strRef>
          </c:cat>
          <c:val>
            <c:numRef>
              <c:f>Sheet1!$E$2:$E$4</c:f>
              <c:numCache>
                <c:formatCode>General</c:formatCode>
                <c:ptCount val="3"/>
                <c:pt idx="0">
                  <c:v>0.7684647302904565</c:v>
                </c:pt>
                <c:pt idx="1">
                  <c:v>0.6153846153846154</c:v>
                </c:pt>
                <c:pt idx="2">
                  <c:v>0.5905759162303665</c:v>
                </c:pt>
              </c:numCache>
            </c:numRef>
          </c:val>
        </c:ser>
        <c:axId val="-2068027336"/>
        <c:axId val="-2113994440"/>
      </c:barChart>
      <c:catAx>
        <c:axId val="-2068027336"/>
        <c:scaling>
          <c:orientation val="maxMin"/>
        </c:scaling>
        <c:delete val="0"/>
        <c:axPos val="l"/>
        <c:majorTickMark val="out"/>
        <c:minorTickMark val="none"/>
        <c:tickLblPos val="nextTo"/>
        <c:crossAx val="-2113994440"/>
        <c:crosses val="autoZero"/>
        <c:auto val="1"/>
        <c:lblAlgn val="ctr"/>
        <c:lblOffset val="100"/>
        <c:noMultiLvlLbl val="0"/>
      </c:catAx>
      <c:valAx>
        <c:axId val="-2113994440"/>
        <c:scaling>
          <c:max val="1.0"/>
          <c:min val="0.0"/>
        </c:scaling>
        <c:delete val="0"/>
        <c:axPos val="b"/>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203A"/>
        </a:solidFill>
        <a:effectLst/>
      </p:bgPr>
    </p:bg>
    <p:spTree>
      <p:nvGrpSpPr>
        <p:cNvPr id="1" name=""/>
        <p:cNvGrpSpPr/>
        <p:nvPr/>
      </p:nvGrpSpPr>
      <p:grpSpPr/>
      <p:sp>
        <p:nvSpPr>
          <p:cNvPr id="2" name="Oval 1"/>
          <p:cNvSpPr/>
          <p:nvPr/>
        </p:nvSpPr>
        <p:spPr>
          <a:xfrm>
            <a:off x="8321040" y="1005840"/>
            <a:ext cx="2286000" cy="2286000"/>
          </a:xfrm>
          <a:prstGeom prst="ellipse">
            <a:avLst/>
          </a:prstGeom>
          <a:solidFill>
            <a:srgbClr val="1CA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784080" y="2560320"/>
            <a:ext cx="1325880" cy="1325880"/>
          </a:xfrm>
          <a:prstGeom prst="ellipse">
            <a:avLst/>
          </a:prstGeom>
          <a:solidFill>
            <a:srgbClr val="5DC4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680960" y="3840480"/>
            <a:ext cx="914400" cy="914400"/>
          </a:xfrm>
          <a:prstGeom prst="ellipse">
            <a:avLst/>
          </a:prstGeom>
          <a:solidFill>
            <a:srgbClr val="EB99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149840" y="4572000"/>
            <a:ext cx="566928" cy="566928"/>
          </a:xfrm>
          <a:prstGeom prst="ellipse">
            <a:avLst/>
          </a:prstGeom>
          <a:solidFill>
            <a:srgbClr val="3E9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9235440" y="2286000"/>
            <a:ext cx="640080" cy="548640"/>
          </a:xfrm>
          <a:prstGeom prst="line">
            <a:avLst/>
          </a:prstGeom>
          <a:ln w="25400">
            <a:solidFill>
              <a:srgbClr val="5DC4DC"/>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8138160" y="2926080"/>
            <a:ext cx="457200" cy="1005840"/>
          </a:xfrm>
          <a:prstGeom prst="line">
            <a:avLst/>
          </a:prstGeom>
          <a:ln w="25400">
            <a:solidFill>
              <a:srgbClr val="5DC4DC"/>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9601200" y="3657600"/>
            <a:ext cx="640080" cy="1097280"/>
          </a:xfrm>
          <a:prstGeom prst="line">
            <a:avLst/>
          </a:prstGeom>
          <a:ln w="25400">
            <a:solidFill>
              <a:srgbClr val="5DC4DC"/>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731520" y="685800"/>
            <a:ext cx="1417320" cy="310896"/>
          </a:xfrm>
          <a:prstGeom prst="roundRect">
            <a:avLst/>
          </a:prstGeom>
          <a:solidFill>
            <a:srgbClr val="1CA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 y="704088"/>
            <a:ext cx="1344168" cy="237744"/>
          </a:xfrm>
          <a:prstGeom prst="rect">
            <a:avLst/>
          </a:prstGeom>
          <a:noFill/>
        </p:spPr>
        <p:txBody>
          <a:bodyPr wrap="none" lIns="36576" rIns="36576" tIns="36576" bIns="36576" anchor="ctr">
            <a:spAutoFit/>
          </a:bodyPr>
          <a:lstStyle/>
          <a:p>
            <a:pPr algn="ctr">
              <a:spcAft>
                <a:spcPts val="700"/>
              </a:spcAft>
              <a:defRPr sz="1000" b="1">
                <a:solidFill>
                  <a:srgbClr val="FFFFFF"/>
                </a:solidFill>
                <a:latin typeface="Aptos"/>
              </a:defRPr>
            </a:pPr>
            <a:r>
              <a:t>NLP • MACHINE LEARNING</a:t>
            </a:r>
          </a:p>
        </p:txBody>
      </p:sp>
      <p:sp>
        <p:nvSpPr>
          <p:cNvPr id="11" name="TextBox 10"/>
          <p:cNvSpPr txBox="1"/>
          <p:nvPr/>
        </p:nvSpPr>
        <p:spPr>
          <a:xfrm>
            <a:off x="731520" y="1508760"/>
            <a:ext cx="6766560" cy="1463040"/>
          </a:xfrm>
          <a:prstGeom prst="rect">
            <a:avLst/>
          </a:prstGeom>
          <a:noFill/>
        </p:spPr>
        <p:txBody>
          <a:bodyPr wrap="none" lIns="36576" rIns="36576" tIns="36576" bIns="36576" anchor="t">
            <a:spAutoFit/>
          </a:bodyPr>
          <a:lstStyle/>
          <a:p>
            <a:pPr algn="l">
              <a:spcAft>
                <a:spcPts val="700"/>
              </a:spcAft>
              <a:defRPr sz="3400" b="1">
                <a:solidFill>
                  <a:srgbClr val="FFFFFF"/>
                </a:solidFill>
                <a:latin typeface="Aptos"/>
              </a:defRPr>
            </a:pPr>
            <a:r>
              <a:t>DISASTER TWEET</a:t>
            </a:r>
          </a:p>
          <a:p>
            <a:pPr algn="l">
              <a:spcAft>
                <a:spcPts val="700"/>
              </a:spcAft>
              <a:defRPr sz="3400" b="1">
                <a:solidFill>
                  <a:srgbClr val="FFFFFF"/>
                </a:solidFill>
                <a:latin typeface="Aptos"/>
              </a:defRPr>
            </a:pPr>
            <a:r>
              <a:t>CLASSIFICATION</a:t>
            </a:r>
          </a:p>
        </p:txBody>
      </p:sp>
      <p:sp>
        <p:nvSpPr>
          <p:cNvPr id="12" name="TextBox 11"/>
          <p:cNvSpPr txBox="1"/>
          <p:nvPr/>
        </p:nvSpPr>
        <p:spPr>
          <a:xfrm>
            <a:off x="768096" y="3246120"/>
            <a:ext cx="6126480" cy="685800"/>
          </a:xfrm>
          <a:prstGeom prst="rect">
            <a:avLst/>
          </a:prstGeom>
          <a:noFill/>
        </p:spPr>
        <p:txBody>
          <a:bodyPr wrap="none" lIns="36576" rIns="36576" tIns="36576" bIns="36576" anchor="t">
            <a:spAutoFit/>
          </a:bodyPr>
          <a:lstStyle/>
          <a:p>
            <a:pPr algn="l">
              <a:spcAft>
                <a:spcPts val="700"/>
              </a:spcAft>
              <a:defRPr sz="1800" b="0">
                <a:solidFill>
                  <a:srgbClr val="CFDCE9"/>
                </a:solidFill>
                <a:latin typeface="Aptos"/>
              </a:defRPr>
            </a:pPr>
            <a:r>
              <a:t>Identifying real disaster-related messages from social media text</a:t>
            </a:r>
          </a:p>
        </p:txBody>
      </p:sp>
      <p:sp>
        <p:nvSpPr>
          <p:cNvPr id="13" name="TextBox 12"/>
          <p:cNvSpPr txBox="1"/>
          <p:nvPr/>
        </p:nvSpPr>
        <p:spPr>
          <a:xfrm>
            <a:off x="768096" y="5166360"/>
            <a:ext cx="6217920" cy="411480"/>
          </a:xfrm>
          <a:prstGeom prst="rect">
            <a:avLst/>
          </a:prstGeom>
          <a:noFill/>
        </p:spPr>
        <p:txBody>
          <a:bodyPr wrap="none" lIns="36576" rIns="36576" tIns="36576" bIns="36576" anchor="t">
            <a:spAutoFit/>
          </a:bodyPr>
          <a:lstStyle/>
          <a:p>
            <a:pPr algn="l">
              <a:spcAft>
                <a:spcPts val="700"/>
              </a:spcAft>
              <a:defRPr sz="1100" b="1">
                <a:solidFill>
                  <a:srgbClr val="5DC4DC"/>
                </a:solidFill>
                <a:latin typeface="Aptos"/>
              </a:defRPr>
            </a:pPr>
            <a:r>
              <a:t>PROJECT PRESENTATION  |  PYTHON • NLP • SCIKIT-LEARN • FLASK</a:t>
            </a:r>
          </a:p>
        </p:txBody>
      </p:sp>
      <p:sp>
        <p:nvSpPr>
          <p:cNvPr id="14" name="TextBox 13"/>
          <p:cNvSpPr txBox="1"/>
          <p:nvPr/>
        </p:nvSpPr>
        <p:spPr>
          <a:xfrm>
            <a:off x="768096" y="6144768"/>
            <a:ext cx="4572000" cy="274320"/>
          </a:xfrm>
          <a:prstGeom prst="rect">
            <a:avLst/>
          </a:prstGeom>
          <a:noFill/>
        </p:spPr>
        <p:txBody>
          <a:bodyPr wrap="none" lIns="36576" rIns="36576" tIns="36576" bIns="36576" anchor="t">
            <a:spAutoFit/>
          </a:bodyPr>
          <a:lstStyle/>
          <a:p>
            <a:pPr algn="l">
              <a:spcAft>
                <a:spcPts val="700"/>
              </a:spcAft>
              <a:defRPr sz="1000" b="0">
                <a:solidFill>
                  <a:srgbClr val="B2C3D3"/>
                </a:solidFill>
                <a:latin typeface="Aptos"/>
              </a:defRPr>
            </a:pPr>
            <a:r>
              <a:t>Based on the supplied code and Excel dataset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10698480" cy="438912"/>
          </a:xfrm>
          <a:prstGeom prst="rect">
            <a:avLst/>
          </a:prstGeom>
          <a:noFill/>
        </p:spPr>
        <p:txBody>
          <a:bodyPr wrap="none" lIns="36576" rIns="36576" tIns="36576" bIns="36576" anchor="t">
            <a:spAutoFit/>
          </a:bodyPr>
          <a:lstStyle/>
          <a:p>
            <a:pPr algn="l">
              <a:spcAft>
                <a:spcPts val="700"/>
              </a:spcAft>
              <a:defRPr sz="2600" b="1">
                <a:solidFill>
                  <a:srgbClr val="12203A"/>
                </a:solidFill>
                <a:latin typeface="Aptos"/>
              </a:defRPr>
            </a:pPr>
            <a:r>
              <a:t>Project at a glance</a:t>
            </a:r>
          </a:p>
        </p:txBody>
      </p:sp>
      <p:sp>
        <p:nvSpPr>
          <p:cNvPr id="3" name="TextBox 2"/>
          <p:cNvSpPr txBox="1"/>
          <p:nvPr/>
        </p:nvSpPr>
        <p:spPr>
          <a:xfrm>
            <a:off x="594360" y="758952"/>
            <a:ext cx="10789920" cy="274320"/>
          </a:xfrm>
          <a:prstGeom prst="rect">
            <a:avLst/>
          </a:prstGeom>
          <a:noFill/>
        </p:spPr>
        <p:txBody>
          <a:bodyPr wrap="none" lIns="36576" rIns="36576" tIns="36576" bIns="36576" anchor="t">
            <a:spAutoFit/>
          </a:bodyPr>
          <a:lstStyle/>
          <a:p>
            <a:pPr algn="l">
              <a:spcAft>
                <a:spcPts val="700"/>
              </a:spcAft>
              <a:defRPr sz="1000" b="0">
                <a:solidFill>
                  <a:srgbClr val="637387"/>
                </a:solidFill>
                <a:latin typeface="Aptos"/>
              </a:defRPr>
            </a:pPr>
            <a:r>
              <a:t>A practical text-classification workflow from raw tweet to web prediction</a:t>
            </a:r>
          </a:p>
        </p:txBody>
      </p:sp>
      <p:sp>
        <p:nvSpPr>
          <p:cNvPr id="4" name="Rectangle 3"/>
          <p:cNvSpPr/>
          <p:nvPr/>
        </p:nvSpPr>
        <p:spPr>
          <a:xfrm>
            <a:off x="594360" y="1115568"/>
            <a:ext cx="658368" cy="50292"/>
          </a:xfrm>
          <a:prstGeom prst="rect">
            <a:avLst/>
          </a:prstGeom>
          <a:solidFill>
            <a:srgbClr val="1CA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92840" y="6473952"/>
            <a:ext cx="365760" cy="182880"/>
          </a:xfrm>
          <a:prstGeom prst="rect">
            <a:avLst/>
          </a:prstGeom>
          <a:noFill/>
        </p:spPr>
        <p:txBody>
          <a:bodyPr wrap="none" lIns="36576" rIns="36576" tIns="36576" bIns="36576" anchor="t">
            <a:spAutoFit/>
          </a:bodyPr>
          <a:lstStyle/>
          <a:p>
            <a:pPr algn="r">
              <a:spcAft>
                <a:spcPts val="700"/>
              </a:spcAft>
              <a:defRPr sz="900" b="1">
                <a:solidFill>
                  <a:srgbClr val="637387"/>
                </a:solidFill>
                <a:latin typeface="Aptos"/>
              </a:defRPr>
            </a:pPr>
            <a:r>
              <a:t>02</a:t>
            </a:r>
          </a:p>
        </p:txBody>
      </p:sp>
      <p:sp>
        <p:nvSpPr>
          <p:cNvPr id="6" name="Rounded Rectangle 5"/>
          <p:cNvSpPr/>
          <p:nvPr/>
        </p:nvSpPr>
        <p:spPr>
          <a:xfrm>
            <a:off x="640080" y="1508760"/>
            <a:ext cx="2606040" cy="1325880"/>
          </a:xfrm>
          <a:prstGeom prst="roundRect">
            <a:avLst/>
          </a:prstGeom>
          <a:solidFill>
            <a:srgbClr val="EFF5F9"/>
          </a:solidFill>
          <a:ln>
            <a:solidFill>
              <a:srgbClr val="DE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508760"/>
            <a:ext cx="73152" cy="1325880"/>
          </a:xfrm>
          <a:prstGeom prst="rect">
            <a:avLst/>
          </a:prstGeom>
          <a:solidFill>
            <a:srgbClr val="1CA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655063"/>
            <a:ext cx="2258568" cy="320040"/>
          </a:xfrm>
          <a:prstGeom prst="rect">
            <a:avLst/>
          </a:prstGeom>
          <a:noFill/>
        </p:spPr>
        <p:txBody>
          <a:bodyPr wrap="none" lIns="36576" rIns="36576" tIns="36576" bIns="36576" anchor="t">
            <a:spAutoFit/>
          </a:bodyPr>
          <a:lstStyle/>
          <a:p>
            <a:pPr algn="l">
              <a:spcAft>
                <a:spcPts val="700"/>
              </a:spcAft>
              <a:defRPr sz="1700" b="1">
                <a:solidFill>
                  <a:srgbClr val="12203A"/>
                </a:solidFill>
                <a:latin typeface="Aptos"/>
              </a:defRPr>
            </a:pPr>
            <a:r>
              <a:t>7,613 tweets</a:t>
            </a:r>
          </a:p>
        </p:txBody>
      </p:sp>
      <p:sp>
        <p:nvSpPr>
          <p:cNvPr id="9" name="TextBox 8"/>
          <p:cNvSpPr txBox="1"/>
          <p:nvPr/>
        </p:nvSpPr>
        <p:spPr>
          <a:xfrm>
            <a:off x="841247" y="2048255"/>
            <a:ext cx="2240280" cy="704087"/>
          </a:xfrm>
          <a:prstGeom prst="rect">
            <a:avLst/>
          </a:prstGeom>
          <a:noFill/>
        </p:spPr>
        <p:txBody>
          <a:bodyPr wrap="none" lIns="36576" rIns="36576" tIns="36576" bIns="36576" anchor="t">
            <a:spAutoFit/>
          </a:bodyPr>
          <a:lstStyle/>
          <a:p>
            <a:pPr algn="l">
              <a:spcAft>
                <a:spcPts val="700"/>
              </a:spcAft>
              <a:defRPr sz="1300" b="0">
                <a:solidFill>
                  <a:srgbClr val="233046"/>
                </a:solidFill>
                <a:latin typeface="Aptos"/>
              </a:defRPr>
            </a:pPr>
            <a:r>
              <a:t>Rows in the supplied dataset</a:t>
            </a:r>
          </a:p>
        </p:txBody>
      </p:sp>
      <p:sp>
        <p:nvSpPr>
          <p:cNvPr id="10" name="Rounded Rectangle 9"/>
          <p:cNvSpPr/>
          <p:nvPr/>
        </p:nvSpPr>
        <p:spPr>
          <a:xfrm>
            <a:off x="3429000" y="1508760"/>
            <a:ext cx="2606040" cy="1325880"/>
          </a:xfrm>
          <a:prstGeom prst="roundRect">
            <a:avLst/>
          </a:prstGeom>
          <a:solidFill>
            <a:srgbClr val="EFF5F9"/>
          </a:solidFill>
          <a:ln>
            <a:solidFill>
              <a:srgbClr val="DE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429000" y="1508760"/>
            <a:ext cx="73152" cy="1325880"/>
          </a:xfrm>
          <a:prstGeom prst="rect">
            <a:avLst/>
          </a:prstGeom>
          <a:solidFill>
            <a:srgbClr val="5DC4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30168" y="1655063"/>
            <a:ext cx="2258568" cy="320040"/>
          </a:xfrm>
          <a:prstGeom prst="rect">
            <a:avLst/>
          </a:prstGeom>
          <a:noFill/>
        </p:spPr>
        <p:txBody>
          <a:bodyPr wrap="none" lIns="36576" rIns="36576" tIns="36576" bIns="36576" anchor="t">
            <a:spAutoFit/>
          </a:bodyPr>
          <a:lstStyle/>
          <a:p>
            <a:pPr algn="l">
              <a:spcAft>
                <a:spcPts val="700"/>
              </a:spcAft>
              <a:defRPr sz="1700" b="1">
                <a:solidFill>
                  <a:srgbClr val="12203A"/>
                </a:solidFill>
                <a:latin typeface="Aptos"/>
              </a:defRPr>
            </a:pPr>
            <a:r>
              <a:t>2 classes</a:t>
            </a:r>
          </a:p>
        </p:txBody>
      </p:sp>
      <p:sp>
        <p:nvSpPr>
          <p:cNvPr id="13" name="TextBox 12"/>
          <p:cNvSpPr txBox="1"/>
          <p:nvPr/>
        </p:nvSpPr>
        <p:spPr>
          <a:xfrm>
            <a:off x="3630168" y="2048255"/>
            <a:ext cx="2240280" cy="704087"/>
          </a:xfrm>
          <a:prstGeom prst="rect">
            <a:avLst/>
          </a:prstGeom>
          <a:noFill/>
        </p:spPr>
        <p:txBody>
          <a:bodyPr wrap="none" lIns="36576" rIns="36576" tIns="36576" bIns="36576" anchor="t">
            <a:spAutoFit/>
          </a:bodyPr>
          <a:lstStyle/>
          <a:p>
            <a:pPr algn="l">
              <a:spcAft>
                <a:spcPts val="700"/>
              </a:spcAft>
              <a:defRPr sz="1300" b="0">
                <a:solidFill>
                  <a:srgbClr val="233046"/>
                </a:solidFill>
                <a:latin typeface="Aptos"/>
              </a:defRPr>
            </a:pPr>
            <a:r>
              <a:t>Non-disaster (0) and disaster (1)</a:t>
            </a:r>
          </a:p>
        </p:txBody>
      </p:sp>
      <p:sp>
        <p:nvSpPr>
          <p:cNvPr id="14" name="Rounded Rectangle 13"/>
          <p:cNvSpPr/>
          <p:nvPr/>
        </p:nvSpPr>
        <p:spPr>
          <a:xfrm>
            <a:off x="6217920" y="1508760"/>
            <a:ext cx="2606040" cy="1325880"/>
          </a:xfrm>
          <a:prstGeom prst="roundRect">
            <a:avLst/>
          </a:prstGeom>
          <a:solidFill>
            <a:srgbClr val="EFF5F9"/>
          </a:solidFill>
          <a:ln>
            <a:solidFill>
              <a:srgbClr val="DE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1508760"/>
            <a:ext cx="73152" cy="1325880"/>
          </a:xfrm>
          <a:prstGeom prst="rect">
            <a:avLst/>
          </a:prstGeom>
          <a:solidFill>
            <a:srgbClr val="EB99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9088" y="1655063"/>
            <a:ext cx="2258568" cy="320040"/>
          </a:xfrm>
          <a:prstGeom prst="rect">
            <a:avLst/>
          </a:prstGeom>
          <a:noFill/>
        </p:spPr>
        <p:txBody>
          <a:bodyPr wrap="none" lIns="36576" rIns="36576" tIns="36576" bIns="36576" anchor="t">
            <a:spAutoFit/>
          </a:bodyPr>
          <a:lstStyle/>
          <a:p>
            <a:pPr algn="l">
              <a:spcAft>
                <a:spcPts val="700"/>
              </a:spcAft>
              <a:defRPr sz="1700" b="1">
                <a:solidFill>
                  <a:srgbClr val="12203A"/>
                </a:solidFill>
                <a:latin typeface="Aptos"/>
              </a:defRPr>
            </a:pPr>
            <a:r>
              <a:t>3 algorithms</a:t>
            </a:r>
          </a:p>
        </p:txBody>
      </p:sp>
      <p:sp>
        <p:nvSpPr>
          <p:cNvPr id="17" name="TextBox 16"/>
          <p:cNvSpPr txBox="1"/>
          <p:nvPr/>
        </p:nvSpPr>
        <p:spPr>
          <a:xfrm>
            <a:off x="6419088" y="2048255"/>
            <a:ext cx="2240280" cy="704087"/>
          </a:xfrm>
          <a:prstGeom prst="rect">
            <a:avLst/>
          </a:prstGeom>
          <a:noFill/>
        </p:spPr>
        <p:txBody>
          <a:bodyPr wrap="none" lIns="36576" rIns="36576" tIns="36576" bIns="36576" anchor="t">
            <a:spAutoFit/>
          </a:bodyPr>
          <a:lstStyle/>
          <a:p>
            <a:pPr algn="l">
              <a:spcAft>
                <a:spcPts val="700"/>
              </a:spcAft>
              <a:defRPr sz="1300" b="0">
                <a:solidFill>
                  <a:srgbClr val="233046"/>
                </a:solidFill>
                <a:latin typeface="Aptos"/>
              </a:defRPr>
            </a:pPr>
            <a:r>
              <a:t>Logistic Regression, Decision Tree, Random Forest</a:t>
            </a:r>
          </a:p>
        </p:txBody>
      </p:sp>
      <p:sp>
        <p:nvSpPr>
          <p:cNvPr id="18" name="Rounded Rectangle 17"/>
          <p:cNvSpPr/>
          <p:nvPr/>
        </p:nvSpPr>
        <p:spPr>
          <a:xfrm>
            <a:off x="9006840" y="1508760"/>
            <a:ext cx="2514600" cy="1325880"/>
          </a:xfrm>
          <a:prstGeom prst="roundRect">
            <a:avLst/>
          </a:prstGeom>
          <a:solidFill>
            <a:srgbClr val="EFF5F9"/>
          </a:solidFill>
          <a:ln>
            <a:solidFill>
              <a:srgbClr val="DE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006840" y="1508760"/>
            <a:ext cx="73152" cy="1325880"/>
          </a:xfrm>
          <a:prstGeom prst="rect">
            <a:avLst/>
          </a:prstGeom>
          <a:solidFill>
            <a:srgbClr val="3E9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08008" y="1655063"/>
            <a:ext cx="2167128" cy="320040"/>
          </a:xfrm>
          <a:prstGeom prst="rect">
            <a:avLst/>
          </a:prstGeom>
          <a:noFill/>
        </p:spPr>
        <p:txBody>
          <a:bodyPr wrap="none" lIns="36576" rIns="36576" tIns="36576" bIns="36576" anchor="t">
            <a:spAutoFit/>
          </a:bodyPr>
          <a:lstStyle/>
          <a:p>
            <a:pPr algn="l">
              <a:spcAft>
                <a:spcPts val="700"/>
              </a:spcAft>
              <a:defRPr sz="1700" b="1">
                <a:solidFill>
                  <a:srgbClr val="12203A"/>
                </a:solidFill>
                <a:latin typeface="Aptos"/>
              </a:defRPr>
            </a:pPr>
            <a:r>
              <a:t>Flask app</a:t>
            </a:r>
          </a:p>
        </p:txBody>
      </p:sp>
      <p:sp>
        <p:nvSpPr>
          <p:cNvPr id="21" name="TextBox 20"/>
          <p:cNvSpPr txBox="1"/>
          <p:nvPr/>
        </p:nvSpPr>
        <p:spPr>
          <a:xfrm>
            <a:off x="9208008" y="2048255"/>
            <a:ext cx="2148840" cy="704087"/>
          </a:xfrm>
          <a:prstGeom prst="rect">
            <a:avLst/>
          </a:prstGeom>
          <a:noFill/>
        </p:spPr>
        <p:txBody>
          <a:bodyPr wrap="none" lIns="36576" rIns="36576" tIns="36576" bIns="36576" anchor="t">
            <a:spAutoFit/>
          </a:bodyPr>
          <a:lstStyle/>
          <a:p>
            <a:pPr algn="l">
              <a:spcAft>
                <a:spcPts val="700"/>
              </a:spcAft>
              <a:defRPr sz="1300" b="0">
                <a:solidFill>
                  <a:srgbClr val="233046"/>
                </a:solidFill>
                <a:latin typeface="Aptos"/>
              </a:defRPr>
            </a:pPr>
            <a:r>
              <a:t>Enter a tweet and view a predicted class</a:t>
            </a:r>
          </a:p>
        </p:txBody>
      </p:sp>
      <p:sp>
        <p:nvSpPr>
          <p:cNvPr id="22" name="TextBox 21"/>
          <p:cNvSpPr txBox="1"/>
          <p:nvPr/>
        </p:nvSpPr>
        <p:spPr>
          <a:xfrm>
            <a:off x="731520" y="3246120"/>
            <a:ext cx="5120640" cy="384048"/>
          </a:xfrm>
          <a:prstGeom prst="rect">
            <a:avLst/>
          </a:prstGeom>
          <a:noFill/>
        </p:spPr>
        <p:txBody>
          <a:bodyPr wrap="none" lIns="36576" rIns="36576" tIns="36576" bIns="36576" anchor="t">
            <a:spAutoFit/>
          </a:bodyPr>
          <a:lstStyle/>
          <a:p>
            <a:pPr algn="l">
              <a:spcAft>
                <a:spcPts val="700"/>
              </a:spcAft>
              <a:defRPr sz="1500" b="1">
                <a:solidFill>
                  <a:srgbClr val="12203A"/>
                </a:solidFill>
                <a:latin typeface="Aptos"/>
              </a:defRPr>
            </a:pPr>
            <a:r>
              <a:t>WHAT THE PROJECT DOES</a:t>
            </a:r>
          </a:p>
        </p:txBody>
      </p:sp>
      <p:sp>
        <p:nvSpPr>
          <p:cNvPr id="23" name="TextBox 22"/>
          <p:cNvSpPr txBox="1"/>
          <p:nvPr/>
        </p:nvSpPr>
        <p:spPr>
          <a:xfrm>
            <a:off x="731520" y="3657600"/>
            <a:ext cx="5120640" cy="1920240"/>
          </a:xfrm>
          <a:prstGeom prst="rect">
            <a:avLst/>
          </a:prstGeom>
          <a:noFill/>
        </p:spPr>
        <p:txBody>
          <a:bodyPr wrap="none" lIns="54864" rIns="54864" tIns="27432" bIns="27432">
            <a:spAutoFit/>
          </a:bodyPr>
          <a:lstStyle/>
          <a:p>
            <a:pPr>
              <a:spcAft>
                <a:spcPts val="1100"/>
              </a:spcAft>
              <a:defRPr sz="1500">
                <a:solidFill>
                  <a:srgbClr val="233046"/>
                </a:solidFill>
                <a:latin typeface="Aptos"/>
              </a:defRPr>
            </a:pPr>
            <a:r>
              <a:t>•  Cleans noisy tweet text and converts it into TF-IDF features.</a:t>
            </a:r>
          </a:p>
          <a:p>
            <a:pPr>
              <a:spcAft>
                <a:spcPts val="1100"/>
              </a:spcAft>
              <a:defRPr sz="1500">
                <a:solidFill>
                  <a:srgbClr val="233046"/>
                </a:solidFill>
                <a:latin typeface="Aptos"/>
              </a:defRPr>
            </a:pPr>
            <a:r>
              <a:t>•  Trains and compares three supervised classifiers.</a:t>
            </a:r>
          </a:p>
          <a:p>
            <a:pPr>
              <a:spcAft>
                <a:spcPts val="1100"/>
              </a:spcAft>
              <a:defRPr sz="1500">
                <a:solidFill>
                  <a:srgbClr val="233046"/>
                </a:solidFill>
                <a:latin typeface="Aptos"/>
              </a:defRPr>
            </a:pPr>
            <a:r>
              <a:t>•  Selects the model with the highest F1 score and saves it for reuse.</a:t>
            </a:r>
          </a:p>
        </p:txBody>
      </p:sp>
      <p:sp>
        <p:nvSpPr>
          <p:cNvPr id="24" name="TextBox 23"/>
          <p:cNvSpPr txBox="1"/>
          <p:nvPr/>
        </p:nvSpPr>
        <p:spPr>
          <a:xfrm>
            <a:off x="6309360" y="3246120"/>
            <a:ext cx="4754880" cy="384048"/>
          </a:xfrm>
          <a:prstGeom prst="rect">
            <a:avLst/>
          </a:prstGeom>
          <a:noFill/>
        </p:spPr>
        <p:txBody>
          <a:bodyPr wrap="none" lIns="36576" rIns="36576" tIns="36576" bIns="36576" anchor="t">
            <a:spAutoFit/>
          </a:bodyPr>
          <a:lstStyle/>
          <a:p>
            <a:pPr algn="l">
              <a:spcAft>
                <a:spcPts val="700"/>
              </a:spcAft>
              <a:defRPr sz="1500" b="1">
                <a:solidFill>
                  <a:srgbClr val="12203A"/>
                </a:solidFill>
                <a:latin typeface="Aptos"/>
              </a:defRPr>
            </a:pPr>
            <a:r>
              <a:t>KEY RESULT FROM MODEL RERUN</a:t>
            </a:r>
          </a:p>
        </p:txBody>
      </p:sp>
      <p:sp>
        <p:nvSpPr>
          <p:cNvPr id="25" name="TextBox 24"/>
          <p:cNvSpPr txBox="1"/>
          <p:nvPr/>
        </p:nvSpPr>
        <p:spPr>
          <a:xfrm>
            <a:off x="6309360" y="3703320"/>
            <a:ext cx="2011680" cy="640080"/>
          </a:xfrm>
          <a:prstGeom prst="rect">
            <a:avLst/>
          </a:prstGeom>
          <a:noFill/>
        </p:spPr>
        <p:txBody>
          <a:bodyPr wrap="none" lIns="36576" rIns="36576" tIns="36576" bIns="36576" anchor="t">
            <a:spAutoFit/>
          </a:bodyPr>
          <a:lstStyle/>
          <a:p>
            <a:pPr algn="l">
              <a:spcAft>
                <a:spcPts val="700"/>
              </a:spcAft>
              <a:defRPr sz="3000" b="1">
                <a:solidFill>
                  <a:srgbClr val="1CA6A0"/>
                </a:solidFill>
                <a:latin typeface="Aptos"/>
              </a:defRPr>
            </a:pPr>
            <a:r>
              <a:t>76.8%</a:t>
            </a:r>
          </a:p>
        </p:txBody>
      </p:sp>
      <p:sp>
        <p:nvSpPr>
          <p:cNvPr id="26" name="TextBox 25"/>
          <p:cNvSpPr txBox="1"/>
          <p:nvPr/>
        </p:nvSpPr>
        <p:spPr>
          <a:xfrm>
            <a:off x="8275320" y="3776472"/>
            <a:ext cx="3017520" cy="566928"/>
          </a:xfrm>
          <a:prstGeom prst="rect">
            <a:avLst/>
          </a:prstGeom>
          <a:noFill/>
        </p:spPr>
        <p:txBody>
          <a:bodyPr wrap="none" lIns="36576" rIns="36576" tIns="36576" bIns="36576" anchor="t">
            <a:spAutoFit/>
          </a:bodyPr>
          <a:lstStyle/>
          <a:p>
            <a:pPr algn="l">
              <a:spcAft>
                <a:spcPts val="700"/>
              </a:spcAft>
              <a:defRPr sz="1500" b="1">
                <a:solidFill>
                  <a:srgbClr val="233046"/>
                </a:solidFill>
                <a:latin typeface="Aptos"/>
              </a:defRPr>
            </a:pPr>
            <a:r>
              <a:t>F1 score — Logistic Regression</a:t>
            </a:r>
          </a:p>
        </p:txBody>
      </p:sp>
      <p:sp>
        <p:nvSpPr>
          <p:cNvPr id="27" name="TextBox 26"/>
          <p:cNvSpPr txBox="1"/>
          <p:nvPr/>
        </p:nvSpPr>
        <p:spPr>
          <a:xfrm>
            <a:off x="6309360" y="4434840"/>
            <a:ext cx="4846320" cy="822960"/>
          </a:xfrm>
          <a:prstGeom prst="rect">
            <a:avLst/>
          </a:prstGeom>
          <a:noFill/>
        </p:spPr>
        <p:txBody>
          <a:bodyPr wrap="none" lIns="36576" rIns="36576" tIns="36576" bIns="36576" anchor="t">
            <a:spAutoFit/>
          </a:bodyPr>
          <a:lstStyle/>
          <a:p>
            <a:pPr algn="l">
              <a:spcAft>
                <a:spcPts val="700"/>
              </a:spcAft>
              <a:defRPr sz="1000" b="0">
                <a:solidFill>
                  <a:srgbClr val="637387"/>
                </a:solidFill>
                <a:latin typeface="Aptos"/>
              </a:defRPr>
            </a:pPr>
            <a:r>
              <a:t>The results shown in this deck were reproduced from the supplied dataset using the same split and model settings. The original script stopped at chart generation in this runtime because of a plotting-library compatibility issue.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10698480" cy="438912"/>
          </a:xfrm>
          <a:prstGeom prst="rect">
            <a:avLst/>
          </a:prstGeom>
          <a:noFill/>
        </p:spPr>
        <p:txBody>
          <a:bodyPr wrap="none" lIns="36576" rIns="36576" tIns="36576" bIns="36576" anchor="t">
            <a:spAutoFit/>
          </a:bodyPr>
          <a:lstStyle/>
          <a:p>
            <a:pPr algn="l">
              <a:spcAft>
                <a:spcPts val="700"/>
              </a:spcAft>
              <a:defRPr sz="2600" b="1">
                <a:solidFill>
                  <a:srgbClr val="12203A"/>
                </a:solidFill>
                <a:latin typeface="Aptos"/>
              </a:defRPr>
            </a:pPr>
            <a:r>
              <a:t>Problem statement &amp; objective</a:t>
            </a:r>
          </a:p>
        </p:txBody>
      </p:sp>
      <p:sp>
        <p:nvSpPr>
          <p:cNvPr id="3" name="TextBox 2"/>
          <p:cNvSpPr txBox="1"/>
          <p:nvPr/>
        </p:nvSpPr>
        <p:spPr>
          <a:xfrm>
            <a:off x="594360" y="758952"/>
            <a:ext cx="10789920" cy="274320"/>
          </a:xfrm>
          <a:prstGeom prst="rect">
            <a:avLst/>
          </a:prstGeom>
          <a:noFill/>
        </p:spPr>
        <p:txBody>
          <a:bodyPr wrap="none" lIns="36576" rIns="36576" tIns="36576" bIns="36576" anchor="t">
            <a:spAutoFit/>
          </a:bodyPr>
          <a:lstStyle/>
          <a:p>
            <a:pPr algn="l">
              <a:spcAft>
                <a:spcPts val="700"/>
              </a:spcAft>
              <a:defRPr sz="1000" b="0">
                <a:solidFill>
                  <a:srgbClr val="637387"/>
                </a:solidFill>
                <a:latin typeface="Aptos"/>
              </a:defRPr>
            </a:pPr>
            <a:r>
              <a:t>Why classify tweets?</a:t>
            </a:r>
          </a:p>
        </p:txBody>
      </p:sp>
      <p:sp>
        <p:nvSpPr>
          <p:cNvPr id="4" name="Rectangle 3"/>
          <p:cNvSpPr/>
          <p:nvPr/>
        </p:nvSpPr>
        <p:spPr>
          <a:xfrm>
            <a:off x="594360" y="1115568"/>
            <a:ext cx="658368" cy="50292"/>
          </a:xfrm>
          <a:prstGeom prst="rect">
            <a:avLst/>
          </a:prstGeom>
          <a:solidFill>
            <a:srgbClr val="1CA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92840" y="6473952"/>
            <a:ext cx="365760" cy="182880"/>
          </a:xfrm>
          <a:prstGeom prst="rect">
            <a:avLst/>
          </a:prstGeom>
          <a:noFill/>
        </p:spPr>
        <p:txBody>
          <a:bodyPr wrap="none" lIns="36576" rIns="36576" tIns="36576" bIns="36576" anchor="t">
            <a:spAutoFit/>
          </a:bodyPr>
          <a:lstStyle/>
          <a:p>
            <a:pPr algn="r">
              <a:spcAft>
                <a:spcPts val="700"/>
              </a:spcAft>
              <a:defRPr sz="900" b="1">
                <a:solidFill>
                  <a:srgbClr val="637387"/>
                </a:solidFill>
                <a:latin typeface="Aptos"/>
              </a:defRPr>
            </a:pPr>
            <a:r>
              <a:t>03</a:t>
            </a:r>
          </a:p>
        </p:txBody>
      </p:sp>
      <p:sp>
        <p:nvSpPr>
          <p:cNvPr id="6" name="Rounded Rectangle 5"/>
          <p:cNvSpPr/>
          <p:nvPr/>
        </p:nvSpPr>
        <p:spPr>
          <a:xfrm>
            <a:off x="685800" y="1554480"/>
            <a:ext cx="5212080" cy="1828800"/>
          </a:xfrm>
          <a:prstGeom prst="roundRect">
            <a:avLst/>
          </a:prstGeom>
          <a:solidFill>
            <a:srgbClr val="EFF5F9"/>
          </a:solidFill>
          <a:ln>
            <a:solidFill>
              <a:srgbClr val="DE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1554480"/>
            <a:ext cx="73152" cy="1828800"/>
          </a:xfrm>
          <a:prstGeom prst="rect">
            <a:avLst/>
          </a:prstGeom>
          <a:solidFill>
            <a:srgbClr val="1CA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00784"/>
            <a:ext cx="4864608" cy="320040"/>
          </a:xfrm>
          <a:prstGeom prst="rect">
            <a:avLst/>
          </a:prstGeom>
          <a:noFill/>
        </p:spPr>
        <p:txBody>
          <a:bodyPr wrap="none" lIns="36576" rIns="36576" tIns="36576" bIns="36576" anchor="t">
            <a:spAutoFit/>
          </a:bodyPr>
          <a:lstStyle/>
          <a:p>
            <a:pPr algn="l">
              <a:spcAft>
                <a:spcPts val="700"/>
              </a:spcAft>
              <a:defRPr sz="1800" b="1">
                <a:solidFill>
                  <a:srgbClr val="12203A"/>
                </a:solidFill>
                <a:latin typeface="Aptos"/>
              </a:defRPr>
            </a:pPr>
            <a:r>
              <a:t>The challenge</a:t>
            </a:r>
          </a:p>
        </p:txBody>
      </p:sp>
      <p:sp>
        <p:nvSpPr>
          <p:cNvPr id="9" name="TextBox 8"/>
          <p:cNvSpPr txBox="1"/>
          <p:nvPr/>
        </p:nvSpPr>
        <p:spPr>
          <a:xfrm>
            <a:off x="886968" y="2093976"/>
            <a:ext cx="4846320" cy="1207007"/>
          </a:xfrm>
          <a:prstGeom prst="rect">
            <a:avLst/>
          </a:prstGeom>
          <a:noFill/>
        </p:spPr>
        <p:txBody>
          <a:bodyPr wrap="none" lIns="36576" rIns="36576" tIns="36576" bIns="36576" anchor="t">
            <a:spAutoFit/>
          </a:bodyPr>
          <a:lstStyle/>
          <a:p>
            <a:pPr algn="l">
              <a:spcAft>
                <a:spcPts val="700"/>
              </a:spcAft>
              <a:defRPr sz="1500" b="0">
                <a:solidFill>
                  <a:srgbClr val="233046"/>
                </a:solidFill>
                <a:latin typeface="Aptos"/>
              </a:defRPr>
            </a:pPr>
            <a:r>
              <a:t>Social media messages are short, informal and noisy. Words such as “disaster” can describe a real emergency or be used figuratively.</a:t>
            </a:r>
          </a:p>
        </p:txBody>
      </p:sp>
      <p:sp>
        <p:nvSpPr>
          <p:cNvPr id="10" name="Rounded Rectangle 9"/>
          <p:cNvSpPr/>
          <p:nvPr/>
        </p:nvSpPr>
        <p:spPr>
          <a:xfrm>
            <a:off x="6263640" y="1554480"/>
            <a:ext cx="5212080" cy="1828800"/>
          </a:xfrm>
          <a:prstGeom prst="roundRect">
            <a:avLst/>
          </a:prstGeom>
          <a:solidFill>
            <a:srgbClr val="EFF5F9"/>
          </a:solidFill>
          <a:ln>
            <a:solidFill>
              <a:srgbClr val="DE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1554480"/>
            <a:ext cx="73152" cy="1828800"/>
          </a:xfrm>
          <a:prstGeom prst="rect">
            <a:avLst/>
          </a:prstGeom>
          <a:solidFill>
            <a:srgbClr val="5DC4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7" y="1700784"/>
            <a:ext cx="4864608" cy="320040"/>
          </a:xfrm>
          <a:prstGeom prst="rect">
            <a:avLst/>
          </a:prstGeom>
          <a:noFill/>
        </p:spPr>
        <p:txBody>
          <a:bodyPr wrap="none" lIns="36576" rIns="36576" tIns="36576" bIns="36576" anchor="t">
            <a:spAutoFit/>
          </a:bodyPr>
          <a:lstStyle/>
          <a:p>
            <a:pPr algn="l">
              <a:spcAft>
                <a:spcPts val="700"/>
              </a:spcAft>
              <a:defRPr sz="1800" b="1">
                <a:solidFill>
                  <a:srgbClr val="12203A"/>
                </a:solidFill>
                <a:latin typeface="Aptos"/>
              </a:defRPr>
            </a:pPr>
            <a:r>
              <a:t>The objective</a:t>
            </a:r>
          </a:p>
        </p:txBody>
      </p:sp>
      <p:sp>
        <p:nvSpPr>
          <p:cNvPr id="13" name="TextBox 12"/>
          <p:cNvSpPr txBox="1"/>
          <p:nvPr/>
        </p:nvSpPr>
        <p:spPr>
          <a:xfrm>
            <a:off x="6464807" y="2093976"/>
            <a:ext cx="4846320" cy="1207007"/>
          </a:xfrm>
          <a:prstGeom prst="rect">
            <a:avLst/>
          </a:prstGeom>
          <a:noFill/>
        </p:spPr>
        <p:txBody>
          <a:bodyPr wrap="none" lIns="36576" rIns="36576" tIns="36576" bIns="36576" anchor="t">
            <a:spAutoFit/>
          </a:bodyPr>
          <a:lstStyle/>
          <a:p>
            <a:pPr algn="l">
              <a:spcAft>
                <a:spcPts val="700"/>
              </a:spcAft>
              <a:defRPr sz="1500" b="0">
                <a:solidFill>
                  <a:srgbClr val="233046"/>
                </a:solidFill>
                <a:latin typeface="Aptos"/>
              </a:defRPr>
            </a:pPr>
            <a:r>
              <a:t>Build a machine-learning classifier that labels each tweet as a real disaster-related message or a non-disaster message.</a:t>
            </a:r>
          </a:p>
        </p:txBody>
      </p:sp>
      <p:sp>
        <p:nvSpPr>
          <p:cNvPr id="14" name="TextBox 13"/>
          <p:cNvSpPr txBox="1"/>
          <p:nvPr/>
        </p:nvSpPr>
        <p:spPr>
          <a:xfrm>
            <a:off x="777240" y="3886200"/>
            <a:ext cx="10515600" cy="365760"/>
          </a:xfrm>
          <a:prstGeom prst="rect">
            <a:avLst/>
          </a:prstGeom>
          <a:noFill/>
        </p:spPr>
        <p:txBody>
          <a:bodyPr wrap="none" lIns="36576" rIns="36576" tIns="36576" bIns="36576" anchor="t">
            <a:spAutoFit/>
          </a:bodyPr>
          <a:lstStyle/>
          <a:p>
            <a:pPr algn="l">
              <a:spcAft>
                <a:spcPts val="700"/>
              </a:spcAft>
              <a:defRPr sz="1500" b="1">
                <a:solidFill>
                  <a:srgbClr val="12203A"/>
                </a:solidFill>
                <a:latin typeface="Aptos"/>
              </a:defRPr>
            </a:pPr>
            <a:r>
              <a:t>TARGET LABELS</a:t>
            </a:r>
          </a:p>
        </p:txBody>
      </p:sp>
      <p:sp>
        <p:nvSpPr>
          <p:cNvPr id="15" name="Rounded Rectangle 14"/>
          <p:cNvSpPr/>
          <p:nvPr/>
        </p:nvSpPr>
        <p:spPr>
          <a:xfrm>
            <a:off x="960120" y="4389120"/>
            <a:ext cx="4434840" cy="1143000"/>
          </a:xfrm>
          <a:prstGeom prst="roundRect">
            <a:avLst/>
          </a:prstGeom>
          <a:solidFill>
            <a:srgbClr val="EFF5F9"/>
          </a:solidFill>
          <a:ln>
            <a:solidFill>
              <a:srgbClr val="DE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60120" y="4389120"/>
            <a:ext cx="73152" cy="1143000"/>
          </a:xfrm>
          <a:prstGeom prst="rect">
            <a:avLst/>
          </a:prstGeom>
          <a:solidFill>
            <a:srgbClr val="EB99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61288" y="4535424"/>
            <a:ext cx="4087368" cy="320040"/>
          </a:xfrm>
          <a:prstGeom prst="rect">
            <a:avLst/>
          </a:prstGeom>
          <a:noFill/>
        </p:spPr>
        <p:txBody>
          <a:bodyPr wrap="none" lIns="36576" rIns="36576" tIns="36576" bIns="36576" anchor="t">
            <a:spAutoFit/>
          </a:bodyPr>
          <a:lstStyle/>
          <a:p>
            <a:pPr algn="l">
              <a:spcAft>
                <a:spcPts val="700"/>
              </a:spcAft>
              <a:defRPr sz="1600" b="1">
                <a:solidFill>
                  <a:srgbClr val="12203A"/>
                </a:solidFill>
                <a:latin typeface="Aptos"/>
              </a:defRPr>
            </a:pPr>
            <a:r>
              <a:t>0 — NON-DISASTER</a:t>
            </a:r>
          </a:p>
        </p:txBody>
      </p:sp>
      <p:sp>
        <p:nvSpPr>
          <p:cNvPr id="18" name="TextBox 17"/>
          <p:cNvSpPr txBox="1"/>
          <p:nvPr/>
        </p:nvSpPr>
        <p:spPr>
          <a:xfrm>
            <a:off x="1161288" y="4928616"/>
            <a:ext cx="4069079" cy="521207"/>
          </a:xfrm>
          <a:prstGeom prst="rect">
            <a:avLst/>
          </a:prstGeom>
          <a:noFill/>
        </p:spPr>
        <p:txBody>
          <a:bodyPr wrap="none" lIns="36576" rIns="36576" tIns="36576" bIns="36576" anchor="t">
            <a:spAutoFit/>
          </a:bodyPr>
          <a:lstStyle/>
          <a:p>
            <a:pPr algn="l">
              <a:spcAft>
                <a:spcPts val="700"/>
              </a:spcAft>
              <a:defRPr sz="1300" b="0">
                <a:solidFill>
                  <a:srgbClr val="233046"/>
                </a:solidFill>
                <a:latin typeface="Aptos"/>
              </a:defRPr>
            </a:pPr>
            <a:r>
              <a:t>No real disaster is being reported in the tweet.</a:t>
            </a:r>
          </a:p>
        </p:txBody>
      </p:sp>
      <p:sp>
        <p:nvSpPr>
          <p:cNvPr id="19" name="Rounded Rectangle 18"/>
          <p:cNvSpPr/>
          <p:nvPr/>
        </p:nvSpPr>
        <p:spPr>
          <a:xfrm>
            <a:off x="6492240" y="4389120"/>
            <a:ext cx="4434840" cy="1143000"/>
          </a:xfrm>
          <a:prstGeom prst="roundRect">
            <a:avLst/>
          </a:prstGeom>
          <a:solidFill>
            <a:srgbClr val="EFF5F9"/>
          </a:solidFill>
          <a:ln>
            <a:solidFill>
              <a:srgbClr val="DE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92240" y="4389120"/>
            <a:ext cx="73152" cy="1143000"/>
          </a:xfrm>
          <a:prstGeom prst="rect">
            <a:avLst/>
          </a:prstGeom>
          <a:solidFill>
            <a:srgbClr val="3E9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93407" y="4535424"/>
            <a:ext cx="4087368" cy="320040"/>
          </a:xfrm>
          <a:prstGeom prst="rect">
            <a:avLst/>
          </a:prstGeom>
          <a:noFill/>
        </p:spPr>
        <p:txBody>
          <a:bodyPr wrap="none" lIns="36576" rIns="36576" tIns="36576" bIns="36576" anchor="t">
            <a:spAutoFit/>
          </a:bodyPr>
          <a:lstStyle/>
          <a:p>
            <a:pPr algn="l">
              <a:spcAft>
                <a:spcPts val="700"/>
              </a:spcAft>
              <a:defRPr sz="1600" b="1">
                <a:solidFill>
                  <a:srgbClr val="12203A"/>
                </a:solidFill>
                <a:latin typeface="Aptos"/>
              </a:defRPr>
            </a:pPr>
            <a:r>
              <a:t>1 — REAL DISASTER</a:t>
            </a:r>
          </a:p>
        </p:txBody>
      </p:sp>
      <p:sp>
        <p:nvSpPr>
          <p:cNvPr id="22" name="TextBox 21"/>
          <p:cNvSpPr txBox="1"/>
          <p:nvPr/>
        </p:nvSpPr>
        <p:spPr>
          <a:xfrm>
            <a:off x="6693407" y="4928616"/>
            <a:ext cx="4069079" cy="521207"/>
          </a:xfrm>
          <a:prstGeom prst="rect">
            <a:avLst/>
          </a:prstGeom>
          <a:noFill/>
        </p:spPr>
        <p:txBody>
          <a:bodyPr wrap="none" lIns="36576" rIns="36576" tIns="36576" bIns="36576" anchor="t">
            <a:spAutoFit/>
          </a:bodyPr>
          <a:lstStyle/>
          <a:p>
            <a:pPr algn="l">
              <a:spcAft>
                <a:spcPts val="700"/>
              </a:spcAft>
              <a:defRPr sz="1300" b="0">
                <a:solidFill>
                  <a:srgbClr val="233046"/>
                </a:solidFill>
                <a:latin typeface="Aptos"/>
              </a:defRPr>
            </a:pPr>
            <a:r>
              <a:t>Tweet is labelled as reporting a disaster event.</a:t>
            </a:r>
          </a:p>
        </p:txBody>
      </p:sp>
      <p:sp>
        <p:nvSpPr>
          <p:cNvPr id="23" name="TextBox 22"/>
          <p:cNvSpPr txBox="1"/>
          <p:nvPr/>
        </p:nvSpPr>
        <p:spPr>
          <a:xfrm>
            <a:off x="822960" y="5897880"/>
            <a:ext cx="10424160" cy="274320"/>
          </a:xfrm>
          <a:prstGeom prst="rect">
            <a:avLst/>
          </a:prstGeom>
          <a:noFill/>
        </p:spPr>
        <p:txBody>
          <a:bodyPr wrap="none" lIns="36576" rIns="36576" tIns="36576" bIns="36576" anchor="t">
            <a:spAutoFit/>
          </a:bodyPr>
          <a:lstStyle/>
          <a:p>
            <a:pPr algn="l">
              <a:spcAft>
                <a:spcPts val="700"/>
              </a:spcAft>
              <a:defRPr sz="1100" b="0">
                <a:solidFill>
                  <a:srgbClr val="637387"/>
                </a:solidFill>
                <a:latin typeface="Aptos"/>
              </a:defRPr>
            </a:pPr>
            <a:r>
              <a:t>Intended use: triage and prioritization support — not authoritative emergency confirmation.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10698480" cy="438912"/>
          </a:xfrm>
          <a:prstGeom prst="rect">
            <a:avLst/>
          </a:prstGeom>
          <a:noFill/>
        </p:spPr>
        <p:txBody>
          <a:bodyPr wrap="none" lIns="36576" rIns="36576" tIns="36576" bIns="36576" anchor="t">
            <a:spAutoFit/>
          </a:bodyPr>
          <a:lstStyle/>
          <a:p>
            <a:pPr algn="l">
              <a:spcAft>
                <a:spcPts val="700"/>
              </a:spcAft>
              <a:defRPr sz="2600" b="1">
                <a:solidFill>
                  <a:srgbClr val="12203A"/>
                </a:solidFill>
                <a:latin typeface="Aptos"/>
              </a:defRPr>
            </a:pPr>
            <a:r>
              <a:t>Dataset profile</a:t>
            </a:r>
          </a:p>
        </p:txBody>
      </p:sp>
      <p:sp>
        <p:nvSpPr>
          <p:cNvPr id="3" name="TextBox 2"/>
          <p:cNvSpPr txBox="1"/>
          <p:nvPr/>
        </p:nvSpPr>
        <p:spPr>
          <a:xfrm>
            <a:off x="594360" y="758952"/>
            <a:ext cx="10789920" cy="274320"/>
          </a:xfrm>
          <a:prstGeom prst="rect">
            <a:avLst/>
          </a:prstGeom>
          <a:noFill/>
        </p:spPr>
        <p:txBody>
          <a:bodyPr wrap="none" lIns="36576" rIns="36576" tIns="36576" bIns="36576" anchor="t">
            <a:spAutoFit/>
          </a:bodyPr>
          <a:lstStyle/>
          <a:p>
            <a:pPr algn="l">
              <a:spcAft>
                <a:spcPts val="700"/>
              </a:spcAft>
              <a:defRPr sz="1000" b="0">
                <a:solidFill>
                  <a:srgbClr val="637387"/>
                </a:solidFill>
                <a:latin typeface="Aptos"/>
              </a:defRPr>
            </a:pPr>
            <a:r>
              <a:t>Supplied file: twitter_disaster (1).xlsx</a:t>
            </a:r>
          </a:p>
        </p:txBody>
      </p:sp>
      <p:sp>
        <p:nvSpPr>
          <p:cNvPr id="4" name="Rectangle 3"/>
          <p:cNvSpPr/>
          <p:nvPr/>
        </p:nvSpPr>
        <p:spPr>
          <a:xfrm>
            <a:off x="594360" y="1115568"/>
            <a:ext cx="658368" cy="50292"/>
          </a:xfrm>
          <a:prstGeom prst="rect">
            <a:avLst/>
          </a:prstGeom>
          <a:solidFill>
            <a:srgbClr val="1CA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92840" y="6473952"/>
            <a:ext cx="365760" cy="182880"/>
          </a:xfrm>
          <a:prstGeom prst="rect">
            <a:avLst/>
          </a:prstGeom>
          <a:noFill/>
        </p:spPr>
        <p:txBody>
          <a:bodyPr wrap="none" lIns="36576" rIns="36576" tIns="36576" bIns="36576" anchor="t">
            <a:spAutoFit/>
          </a:bodyPr>
          <a:lstStyle/>
          <a:p>
            <a:pPr algn="r">
              <a:spcAft>
                <a:spcPts val="700"/>
              </a:spcAft>
              <a:defRPr sz="900" b="1">
                <a:solidFill>
                  <a:srgbClr val="637387"/>
                </a:solidFill>
                <a:latin typeface="Aptos"/>
              </a:defRPr>
            </a:pPr>
            <a:r>
              <a:t>04</a:t>
            </a:r>
          </a:p>
        </p:txBody>
      </p:sp>
      <p:sp>
        <p:nvSpPr>
          <p:cNvPr id="6" name="TextBox 5"/>
          <p:cNvSpPr txBox="1"/>
          <p:nvPr/>
        </p:nvSpPr>
        <p:spPr>
          <a:xfrm>
            <a:off x="731520" y="1417320"/>
            <a:ext cx="3200400" cy="365760"/>
          </a:xfrm>
          <a:prstGeom prst="rect">
            <a:avLst/>
          </a:prstGeom>
          <a:noFill/>
        </p:spPr>
        <p:txBody>
          <a:bodyPr wrap="none" lIns="36576" rIns="36576" tIns="36576" bIns="36576" anchor="t">
            <a:spAutoFit/>
          </a:bodyPr>
          <a:lstStyle/>
          <a:p>
            <a:pPr algn="l">
              <a:spcAft>
                <a:spcPts val="700"/>
              </a:spcAft>
              <a:defRPr sz="1500" b="1">
                <a:solidFill>
                  <a:srgbClr val="12203A"/>
                </a:solidFill>
                <a:latin typeface="Aptos"/>
              </a:defRPr>
            </a:pPr>
            <a:r>
              <a:t>DATASET SNAPSHOT</a:t>
            </a:r>
          </a:p>
        </p:txBody>
      </p:sp>
      <p:sp>
        <p:nvSpPr>
          <p:cNvPr id="7" name="TextBox 6"/>
          <p:cNvSpPr txBox="1"/>
          <p:nvPr/>
        </p:nvSpPr>
        <p:spPr>
          <a:xfrm>
            <a:off x="731520" y="1828800"/>
            <a:ext cx="3200400" cy="640080"/>
          </a:xfrm>
          <a:prstGeom prst="rect">
            <a:avLst/>
          </a:prstGeom>
          <a:noFill/>
        </p:spPr>
        <p:txBody>
          <a:bodyPr wrap="none" lIns="36576" rIns="36576" tIns="36576" bIns="36576" anchor="t">
            <a:spAutoFit/>
          </a:bodyPr>
          <a:lstStyle/>
          <a:p>
            <a:pPr algn="l">
              <a:spcAft>
                <a:spcPts val="700"/>
              </a:spcAft>
              <a:defRPr sz="3200" b="1">
                <a:solidFill>
                  <a:srgbClr val="1CA6A0"/>
                </a:solidFill>
                <a:latin typeface="Aptos"/>
              </a:defRPr>
            </a:pPr>
            <a:r>
              <a:t>7,613</a:t>
            </a:r>
          </a:p>
        </p:txBody>
      </p:sp>
      <p:sp>
        <p:nvSpPr>
          <p:cNvPr id="8" name="TextBox 7"/>
          <p:cNvSpPr txBox="1"/>
          <p:nvPr/>
        </p:nvSpPr>
        <p:spPr>
          <a:xfrm>
            <a:off x="731520" y="2450592"/>
            <a:ext cx="3200400" cy="274320"/>
          </a:xfrm>
          <a:prstGeom prst="rect">
            <a:avLst/>
          </a:prstGeom>
          <a:noFill/>
        </p:spPr>
        <p:txBody>
          <a:bodyPr wrap="none" lIns="36576" rIns="36576" tIns="36576" bIns="36576" anchor="t">
            <a:spAutoFit/>
          </a:bodyPr>
          <a:lstStyle/>
          <a:p>
            <a:pPr algn="l">
              <a:spcAft>
                <a:spcPts val="700"/>
              </a:spcAft>
              <a:defRPr sz="1300" b="0">
                <a:solidFill>
                  <a:srgbClr val="637387"/>
                </a:solidFill>
                <a:latin typeface="Aptos"/>
              </a:defRPr>
            </a:pPr>
            <a:r>
              <a:t>rows • 5 columns</a:t>
            </a:r>
          </a:p>
        </p:txBody>
      </p:sp>
      <p:sp>
        <p:nvSpPr>
          <p:cNvPr id="9" name="TextBox 8"/>
          <p:cNvSpPr txBox="1"/>
          <p:nvPr/>
        </p:nvSpPr>
        <p:spPr>
          <a:xfrm>
            <a:off x="731520" y="3154680"/>
            <a:ext cx="3291840" cy="365760"/>
          </a:xfrm>
          <a:prstGeom prst="rect">
            <a:avLst/>
          </a:prstGeom>
          <a:noFill/>
        </p:spPr>
        <p:txBody>
          <a:bodyPr wrap="none" lIns="36576" rIns="36576" tIns="36576" bIns="36576" anchor="t">
            <a:spAutoFit/>
          </a:bodyPr>
          <a:lstStyle/>
          <a:p>
            <a:pPr algn="l">
              <a:spcAft>
                <a:spcPts val="700"/>
              </a:spcAft>
              <a:defRPr sz="1500" b="1">
                <a:solidFill>
                  <a:srgbClr val="12203A"/>
                </a:solidFill>
                <a:latin typeface="Aptos"/>
              </a:defRPr>
            </a:pPr>
            <a:r>
              <a:t>TARGET DISTRIBUTION</a:t>
            </a:r>
          </a:p>
        </p:txBody>
      </p:sp>
      <p:sp>
        <p:nvSpPr>
          <p:cNvPr id="10" name="TextBox 9"/>
          <p:cNvSpPr txBox="1"/>
          <p:nvPr/>
        </p:nvSpPr>
        <p:spPr>
          <a:xfrm>
            <a:off x="777240" y="3703320"/>
            <a:ext cx="502920" cy="256032"/>
          </a:xfrm>
          <a:prstGeom prst="rect">
            <a:avLst/>
          </a:prstGeom>
          <a:noFill/>
        </p:spPr>
        <p:txBody>
          <a:bodyPr wrap="none" lIns="36576" rIns="36576" tIns="36576" bIns="36576" anchor="t">
            <a:spAutoFit/>
          </a:bodyPr>
          <a:lstStyle/>
          <a:p>
            <a:pPr algn="l">
              <a:spcAft>
                <a:spcPts val="700"/>
              </a:spcAft>
              <a:defRPr sz="1200" b="1">
                <a:solidFill>
                  <a:srgbClr val="233046"/>
                </a:solidFill>
                <a:latin typeface="Aptos"/>
              </a:defRPr>
            </a:pPr>
            <a:r>
              <a:t>0</a:t>
            </a:r>
          </a:p>
        </p:txBody>
      </p:sp>
      <p:sp>
        <p:nvSpPr>
          <p:cNvPr id="11" name="Rounded Rectangle 10"/>
          <p:cNvSpPr/>
          <p:nvPr/>
        </p:nvSpPr>
        <p:spPr>
          <a:xfrm>
            <a:off x="1325880" y="3721607"/>
            <a:ext cx="2240280" cy="237744"/>
          </a:xfrm>
          <a:prstGeom prst="roundRect">
            <a:avLst/>
          </a:prstGeom>
          <a:solidFill>
            <a:srgbClr val="5DC4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0" y="3694176"/>
            <a:ext cx="914400" cy="274320"/>
          </a:xfrm>
          <a:prstGeom prst="rect">
            <a:avLst/>
          </a:prstGeom>
          <a:noFill/>
        </p:spPr>
        <p:txBody>
          <a:bodyPr wrap="none" lIns="36576" rIns="36576" tIns="36576" bIns="36576" anchor="t">
            <a:spAutoFit/>
          </a:bodyPr>
          <a:lstStyle/>
          <a:p>
            <a:pPr algn="l">
              <a:spcAft>
                <a:spcPts val="700"/>
              </a:spcAft>
              <a:defRPr sz="1200" b="1">
                <a:solidFill>
                  <a:srgbClr val="233046"/>
                </a:solidFill>
                <a:latin typeface="Aptos"/>
              </a:defRPr>
            </a:pPr>
            <a:r>
              <a:t>4,342</a:t>
            </a:r>
          </a:p>
        </p:txBody>
      </p:sp>
      <p:sp>
        <p:nvSpPr>
          <p:cNvPr id="13" name="TextBox 12"/>
          <p:cNvSpPr txBox="1"/>
          <p:nvPr/>
        </p:nvSpPr>
        <p:spPr>
          <a:xfrm>
            <a:off x="777240" y="4361688"/>
            <a:ext cx="502920" cy="256032"/>
          </a:xfrm>
          <a:prstGeom prst="rect">
            <a:avLst/>
          </a:prstGeom>
          <a:noFill/>
        </p:spPr>
        <p:txBody>
          <a:bodyPr wrap="none" lIns="36576" rIns="36576" tIns="36576" bIns="36576" anchor="t">
            <a:spAutoFit/>
          </a:bodyPr>
          <a:lstStyle/>
          <a:p>
            <a:pPr algn="l">
              <a:spcAft>
                <a:spcPts val="700"/>
              </a:spcAft>
              <a:defRPr sz="1200" b="1">
                <a:solidFill>
                  <a:srgbClr val="233046"/>
                </a:solidFill>
                <a:latin typeface="Aptos"/>
              </a:defRPr>
            </a:pPr>
            <a:r>
              <a:t>1</a:t>
            </a:r>
          </a:p>
        </p:txBody>
      </p:sp>
      <p:sp>
        <p:nvSpPr>
          <p:cNvPr id="14" name="Rounded Rectangle 13"/>
          <p:cNvSpPr/>
          <p:nvPr/>
        </p:nvSpPr>
        <p:spPr>
          <a:xfrm>
            <a:off x="1325880" y="4379975"/>
            <a:ext cx="1687691" cy="237744"/>
          </a:xfrm>
          <a:prstGeom prst="roundRect">
            <a:avLst/>
          </a:prstGeom>
          <a:solidFill>
            <a:srgbClr val="1CA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0" y="4352544"/>
            <a:ext cx="914400" cy="274320"/>
          </a:xfrm>
          <a:prstGeom prst="rect">
            <a:avLst/>
          </a:prstGeom>
          <a:noFill/>
        </p:spPr>
        <p:txBody>
          <a:bodyPr wrap="none" lIns="36576" rIns="36576" tIns="36576" bIns="36576" anchor="t">
            <a:spAutoFit/>
          </a:bodyPr>
          <a:lstStyle/>
          <a:p>
            <a:pPr algn="l">
              <a:spcAft>
                <a:spcPts val="700"/>
              </a:spcAft>
              <a:defRPr sz="1200" b="1">
                <a:solidFill>
                  <a:srgbClr val="233046"/>
                </a:solidFill>
                <a:latin typeface="Aptos"/>
              </a:defRPr>
            </a:pPr>
            <a:r>
              <a:t>3,271</a:t>
            </a:r>
          </a:p>
        </p:txBody>
      </p:sp>
      <p:sp>
        <p:nvSpPr>
          <p:cNvPr id="16" name="TextBox 15"/>
          <p:cNvSpPr txBox="1"/>
          <p:nvPr/>
        </p:nvSpPr>
        <p:spPr>
          <a:xfrm>
            <a:off x="5577840" y="1417320"/>
            <a:ext cx="5212080" cy="365760"/>
          </a:xfrm>
          <a:prstGeom prst="rect">
            <a:avLst/>
          </a:prstGeom>
          <a:noFill/>
        </p:spPr>
        <p:txBody>
          <a:bodyPr wrap="none" lIns="36576" rIns="36576" tIns="36576" bIns="36576" anchor="t">
            <a:spAutoFit/>
          </a:bodyPr>
          <a:lstStyle/>
          <a:p>
            <a:pPr algn="l">
              <a:spcAft>
                <a:spcPts val="700"/>
              </a:spcAft>
              <a:defRPr sz="1500" b="1">
                <a:solidFill>
                  <a:srgbClr val="12203A"/>
                </a:solidFill>
                <a:latin typeface="Aptos"/>
              </a:defRPr>
            </a:pPr>
            <a:r>
              <a:t>AVAILABLE COLUMNS</a:t>
            </a:r>
          </a:p>
        </p:txBody>
      </p:sp>
      <p:graphicFrame>
        <p:nvGraphicFramePr>
          <p:cNvPr id="17" name="Table 16"/>
          <p:cNvGraphicFramePr>
            <a:graphicFrameLocks noGrp="1"/>
          </p:cNvGraphicFramePr>
          <p:nvPr/>
        </p:nvGraphicFramePr>
        <p:xfrm>
          <a:off x="5577840" y="1828800"/>
          <a:ext cx="5760720" cy="2148840"/>
        </p:xfrm>
        <a:graphic>
          <a:graphicData uri="http://schemas.openxmlformats.org/drawingml/2006/table">
            <a:tbl>
              <a:tblPr firstRow="1" bandRow="1">
                <a:tableStyleId>{5C22544A-7EE6-4342-B048-85BDC9FD1C3A}</a:tableStyleId>
              </a:tblPr>
              <a:tblGrid>
                <a:gridCol w="1554480"/>
                <a:gridCol w="4206240"/>
              </a:tblGrid>
              <a:tr h="358140">
                <a:tc>
                  <a:txBody>
                    <a:bodyPr/>
                    <a:lstStyle/>
                    <a:p>
                      <a:pPr algn="l">
                        <a:defRPr sz="1100" b="1">
                          <a:solidFill>
                            <a:srgbClr val="FFFFFF"/>
                          </a:solidFill>
                          <a:latin typeface="Aptos"/>
                        </a:defRPr>
                      </a:pPr>
                      <a:r>
                        <a:t>Column</a:t>
                      </a:r>
                    </a:p>
                  </a:txBody>
                  <a:tcPr marL="73152" marR="54864" marT="36576" marB="36576" anchor="ctr">
                    <a:solidFill>
                      <a:srgbClr val="12203A"/>
                    </a:solidFill>
                  </a:tcPr>
                </a:tc>
                <a:tc>
                  <a:txBody>
                    <a:bodyPr/>
                    <a:lstStyle/>
                    <a:p>
                      <a:pPr algn="ctr">
                        <a:defRPr sz="1100" b="1">
                          <a:solidFill>
                            <a:srgbClr val="FFFFFF"/>
                          </a:solidFill>
                          <a:latin typeface="Aptos"/>
                        </a:defRPr>
                      </a:pPr>
                      <a:r>
                        <a:t>Purpose in supplied data</a:t>
                      </a:r>
                    </a:p>
                  </a:txBody>
                  <a:tcPr marL="73152" marR="54864" marT="36576" marB="36576" anchor="ctr">
                    <a:solidFill>
                      <a:srgbClr val="12203A"/>
                    </a:solidFill>
                  </a:tcPr>
                </a:tc>
              </a:tr>
              <a:tr h="358140">
                <a:tc>
                  <a:txBody>
                    <a:bodyPr/>
                    <a:lstStyle/>
                    <a:p>
                      <a:pPr algn="l">
                        <a:defRPr sz="1100" b="0">
                          <a:solidFill>
                            <a:srgbClr val="233046"/>
                          </a:solidFill>
                          <a:latin typeface="Aptos"/>
                        </a:defRPr>
                      </a:pPr>
                      <a:r>
                        <a:t>id</a:t>
                      </a:r>
                    </a:p>
                  </a:txBody>
                  <a:tcPr marL="73152" marR="54864" marT="36576" marB="36576" anchor="ctr">
                    <a:solidFill>
                      <a:srgbClr val="FFFFFF"/>
                    </a:solidFill>
                  </a:tcPr>
                </a:tc>
                <a:tc>
                  <a:txBody>
                    <a:bodyPr/>
                    <a:lstStyle/>
                    <a:p>
                      <a:pPr algn="ctr">
                        <a:defRPr sz="1100" b="0">
                          <a:solidFill>
                            <a:srgbClr val="233046"/>
                          </a:solidFill>
                          <a:latin typeface="Aptos"/>
                        </a:defRPr>
                      </a:pPr>
                      <a:r>
                        <a:t>Tweet identifier</a:t>
                      </a:r>
                    </a:p>
                  </a:txBody>
                  <a:tcPr marL="73152" marR="54864" marT="36576" marB="36576" anchor="ctr">
                    <a:solidFill>
                      <a:srgbClr val="FFFFFF"/>
                    </a:solidFill>
                  </a:tcPr>
                </a:tc>
              </a:tr>
              <a:tr h="358140">
                <a:tc>
                  <a:txBody>
                    <a:bodyPr/>
                    <a:lstStyle/>
                    <a:p>
                      <a:pPr algn="l">
                        <a:defRPr sz="1100" b="0">
                          <a:solidFill>
                            <a:srgbClr val="233046"/>
                          </a:solidFill>
                          <a:latin typeface="Aptos"/>
                        </a:defRPr>
                      </a:pPr>
                      <a:r>
                        <a:t>keyword</a:t>
                      </a:r>
                    </a:p>
                  </a:txBody>
                  <a:tcPr marL="73152" marR="54864" marT="36576" marB="36576" anchor="ctr">
                    <a:solidFill>
                      <a:srgbClr val="EFF5F9"/>
                    </a:solidFill>
                  </a:tcPr>
                </a:tc>
                <a:tc>
                  <a:txBody>
                    <a:bodyPr/>
                    <a:lstStyle/>
                    <a:p>
                      <a:pPr algn="ctr">
                        <a:defRPr sz="1100" b="0">
                          <a:solidFill>
                            <a:srgbClr val="233046"/>
                          </a:solidFill>
                          <a:latin typeface="Aptos"/>
                        </a:defRPr>
                      </a:pPr>
                      <a:r>
                        <a:t>Associated keyword; 61 missing</a:t>
                      </a:r>
                    </a:p>
                  </a:txBody>
                  <a:tcPr marL="73152" marR="54864" marT="36576" marB="36576" anchor="ctr">
                    <a:solidFill>
                      <a:srgbClr val="EFF5F9"/>
                    </a:solidFill>
                  </a:tcPr>
                </a:tc>
              </a:tr>
              <a:tr h="358140">
                <a:tc>
                  <a:txBody>
                    <a:bodyPr/>
                    <a:lstStyle/>
                    <a:p>
                      <a:pPr algn="l">
                        <a:defRPr sz="1100" b="0">
                          <a:solidFill>
                            <a:srgbClr val="233046"/>
                          </a:solidFill>
                          <a:latin typeface="Aptos"/>
                        </a:defRPr>
                      </a:pPr>
                      <a:r>
                        <a:t>location</a:t>
                      </a:r>
                    </a:p>
                  </a:txBody>
                  <a:tcPr marL="73152" marR="54864" marT="36576" marB="36576" anchor="ctr">
                    <a:solidFill>
                      <a:srgbClr val="FFFFFF"/>
                    </a:solidFill>
                  </a:tcPr>
                </a:tc>
                <a:tc>
                  <a:txBody>
                    <a:bodyPr/>
                    <a:lstStyle/>
                    <a:p>
                      <a:pPr algn="ctr">
                        <a:defRPr sz="1100" b="0">
                          <a:solidFill>
                            <a:srgbClr val="233046"/>
                          </a:solidFill>
                          <a:latin typeface="Aptos"/>
                        </a:defRPr>
                      </a:pPr>
                      <a:r>
                        <a:t>Location text; 2,534 missing</a:t>
                      </a:r>
                    </a:p>
                  </a:txBody>
                  <a:tcPr marL="73152" marR="54864" marT="36576" marB="36576" anchor="ctr">
                    <a:solidFill>
                      <a:srgbClr val="FFFFFF"/>
                    </a:solidFill>
                  </a:tcPr>
                </a:tc>
              </a:tr>
              <a:tr h="358140">
                <a:tc>
                  <a:txBody>
                    <a:bodyPr/>
                    <a:lstStyle/>
                    <a:p>
                      <a:pPr algn="l">
                        <a:defRPr sz="1100" b="0">
                          <a:solidFill>
                            <a:srgbClr val="233046"/>
                          </a:solidFill>
                          <a:latin typeface="Aptos"/>
                        </a:defRPr>
                      </a:pPr>
                      <a:r>
                        <a:t>text</a:t>
                      </a:r>
                    </a:p>
                  </a:txBody>
                  <a:tcPr marL="73152" marR="54864" marT="36576" marB="36576" anchor="ctr">
                    <a:solidFill>
                      <a:srgbClr val="EFF5F9"/>
                    </a:solidFill>
                  </a:tcPr>
                </a:tc>
                <a:tc>
                  <a:txBody>
                    <a:bodyPr/>
                    <a:lstStyle/>
                    <a:p>
                      <a:pPr algn="ctr">
                        <a:defRPr sz="1100" b="0">
                          <a:solidFill>
                            <a:srgbClr val="233046"/>
                          </a:solidFill>
                          <a:latin typeface="Aptos"/>
                        </a:defRPr>
                      </a:pPr>
                      <a:r>
                        <a:t>Tweet content; no missing values</a:t>
                      </a:r>
                    </a:p>
                  </a:txBody>
                  <a:tcPr marL="73152" marR="54864" marT="36576" marB="36576" anchor="ctr">
                    <a:solidFill>
                      <a:srgbClr val="EFF5F9"/>
                    </a:solidFill>
                  </a:tcPr>
                </a:tc>
              </a:tr>
              <a:tr h="358140">
                <a:tc>
                  <a:txBody>
                    <a:bodyPr/>
                    <a:lstStyle/>
                    <a:p>
                      <a:pPr algn="l">
                        <a:defRPr sz="1100" b="0">
                          <a:solidFill>
                            <a:srgbClr val="233046"/>
                          </a:solidFill>
                          <a:latin typeface="Aptos"/>
                        </a:defRPr>
                      </a:pPr>
                      <a:r>
                        <a:t>target</a:t>
                      </a:r>
                    </a:p>
                  </a:txBody>
                  <a:tcPr marL="73152" marR="54864" marT="36576" marB="36576" anchor="ctr">
                    <a:solidFill>
                      <a:srgbClr val="FFFFFF"/>
                    </a:solidFill>
                  </a:tcPr>
                </a:tc>
                <a:tc>
                  <a:txBody>
                    <a:bodyPr/>
                    <a:lstStyle/>
                    <a:p>
                      <a:pPr algn="ctr">
                        <a:defRPr sz="1100" b="0">
                          <a:solidFill>
                            <a:srgbClr val="233046"/>
                          </a:solidFill>
                          <a:latin typeface="Aptos"/>
                        </a:defRPr>
                      </a:pPr>
                      <a:r>
                        <a:t>Label: 0 or 1</a:t>
                      </a:r>
                    </a:p>
                  </a:txBody>
                  <a:tcPr marL="73152" marR="54864" marT="36576" marB="36576" anchor="ctr">
                    <a:solidFill>
                      <a:srgbClr val="FFFFFF"/>
                    </a:solidFill>
                  </a:tcPr>
                </a:tc>
              </a:tr>
            </a:tbl>
          </a:graphicData>
        </a:graphic>
      </p:graphicFrame>
      <p:sp>
        <p:nvSpPr>
          <p:cNvPr id="18" name="TextBox 17"/>
          <p:cNvSpPr txBox="1"/>
          <p:nvPr/>
        </p:nvSpPr>
        <p:spPr>
          <a:xfrm>
            <a:off x="5623560" y="4343400"/>
            <a:ext cx="5486400" cy="685800"/>
          </a:xfrm>
          <a:prstGeom prst="rect">
            <a:avLst/>
          </a:prstGeom>
          <a:noFill/>
        </p:spPr>
        <p:txBody>
          <a:bodyPr wrap="none" lIns="36576" rIns="36576" tIns="36576" bIns="36576" anchor="t">
            <a:spAutoFit/>
          </a:bodyPr>
          <a:lstStyle/>
          <a:p>
            <a:pPr algn="l">
              <a:spcAft>
                <a:spcPts val="700"/>
              </a:spcAft>
              <a:defRPr sz="1200" b="0">
                <a:solidFill>
                  <a:srgbClr val="233046"/>
                </a:solidFill>
                <a:latin typeface="Aptos"/>
              </a:defRPr>
            </a:pPr>
            <a:r>
              <a:t>Data checks found 0 duplicate rows before cleaning. Missing keyword and location values are filled; missing location is set to “Unknown.”</a:t>
            </a:r>
          </a:p>
        </p:txBody>
      </p:sp>
      <p:sp>
        <p:nvSpPr>
          <p:cNvPr id="19" name="Rounded Rectangle 18"/>
          <p:cNvSpPr/>
          <p:nvPr/>
        </p:nvSpPr>
        <p:spPr>
          <a:xfrm>
            <a:off x="5623560" y="5303520"/>
            <a:ext cx="1965960" cy="310896"/>
          </a:xfrm>
          <a:prstGeom prst="roundRect">
            <a:avLst/>
          </a:prstGeom>
          <a:solidFill>
            <a:srgbClr val="122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0136" y="5321807"/>
            <a:ext cx="1892807" cy="237744"/>
          </a:xfrm>
          <a:prstGeom prst="rect">
            <a:avLst/>
          </a:prstGeom>
          <a:noFill/>
        </p:spPr>
        <p:txBody>
          <a:bodyPr wrap="none" lIns="36576" rIns="36576" tIns="36576" bIns="36576" anchor="ctr">
            <a:spAutoFit/>
          </a:bodyPr>
          <a:lstStyle/>
          <a:p>
            <a:pPr algn="ctr">
              <a:spcAft>
                <a:spcPts val="700"/>
              </a:spcAft>
              <a:defRPr sz="1000" b="1">
                <a:solidFill>
                  <a:srgbClr val="FFFFFF"/>
                </a:solidFill>
                <a:latin typeface="Aptos"/>
              </a:defRPr>
            </a:pPr>
            <a:r>
              <a:t>80 / 20 TRAIN-TEST SPLIT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10698480" cy="438912"/>
          </a:xfrm>
          <a:prstGeom prst="rect">
            <a:avLst/>
          </a:prstGeom>
          <a:noFill/>
        </p:spPr>
        <p:txBody>
          <a:bodyPr wrap="none" lIns="36576" rIns="36576" tIns="36576" bIns="36576" anchor="t">
            <a:spAutoFit/>
          </a:bodyPr>
          <a:lstStyle/>
          <a:p>
            <a:pPr algn="l">
              <a:spcAft>
                <a:spcPts val="700"/>
              </a:spcAft>
              <a:defRPr sz="2600" b="1">
                <a:solidFill>
                  <a:srgbClr val="12203A"/>
                </a:solidFill>
                <a:latin typeface="Aptos"/>
              </a:defRPr>
            </a:pPr>
            <a:r>
              <a:t>Solution architecture</a:t>
            </a:r>
          </a:p>
        </p:txBody>
      </p:sp>
      <p:sp>
        <p:nvSpPr>
          <p:cNvPr id="3" name="TextBox 2"/>
          <p:cNvSpPr txBox="1"/>
          <p:nvPr/>
        </p:nvSpPr>
        <p:spPr>
          <a:xfrm>
            <a:off x="594360" y="758952"/>
            <a:ext cx="10789920" cy="274320"/>
          </a:xfrm>
          <a:prstGeom prst="rect">
            <a:avLst/>
          </a:prstGeom>
          <a:noFill/>
        </p:spPr>
        <p:txBody>
          <a:bodyPr wrap="none" lIns="36576" rIns="36576" tIns="36576" bIns="36576" anchor="t">
            <a:spAutoFit/>
          </a:bodyPr>
          <a:lstStyle/>
          <a:p>
            <a:pPr algn="l">
              <a:spcAft>
                <a:spcPts val="700"/>
              </a:spcAft>
              <a:defRPr sz="1000" b="0">
                <a:solidFill>
                  <a:srgbClr val="637387"/>
                </a:solidFill>
                <a:latin typeface="Aptos"/>
              </a:defRPr>
            </a:pPr>
            <a:r>
              <a:t>Training pipeline and prediction path</a:t>
            </a:r>
          </a:p>
        </p:txBody>
      </p:sp>
      <p:sp>
        <p:nvSpPr>
          <p:cNvPr id="4" name="Rectangle 3"/>
          <p:cNvSpPr/>
          <p:nvPr/>
        </p:nvSpPr>
        <p:spPr>
          <a:xfrm>
            <a:off x="594360" y="1115568"/>
            <a:ext cx="658368" cy="50292"/>
          </a:xfrm>
          <a:prstGeom prst="rect">
            <a:avLst/>
          </a:prstGeom>
          <a:solidFill>
            <a:srgbClr val="1CA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92840" y="6473952"/>
            <a:ext cx="365760" cy="182880"/>
          </a:xfrm>
          <a:prstGeom prst="rect">
            <a:avLst/>
          </a:prstGeom>
          <a:noFill/>
        </p:spPr>
        <p:txBody>
          <a:bodyPr wrap="none" lIns="36576" rIns="36576" tIns="36576" bIns="36576" anchor="t">
            <a:spAutoFit/>
          </a:bodyPr>
          <a:lstStyle/>
          <a:p>
            <a:pPr algn="r">
              <a:spcAft>
                <a:spcPts val="700"/>
              </a:spcAft>
              <a:defRPr sz="900" b="1">
                <a:solidFill>
                  <a:srgbClr val="637387"/>
                </a:solidFill>
                <a:latin typeface="Aptos"/>
              </a:defRPr>
            </a:pPr>
            <a:r>
              <a:t>05</a:t>
            </a:r>
          </a:p>
        </p:txBody>
      </p:sp>
      <p:sp>
        <p:nvSpPr>
          <p:cNvPr id="6" name="Rounded Rectangle 5"/>
          <p:cNvSpPr/>
          <p:nvPr/>
        </p:nvSpPr>
        <p:spPr>
          <a:xfrm>
            <a:off x="685800" y="1600200"/>
            <a:ext cx="2148840" cy="1143000"/>
          </a:xfrm>
          <a:prstGeom prst="roundRect">
            <a:avLst/>
          </a:prstGeom>
          <a:solidFill>
            <a:srgbClr val="EFF5F9"/>
          </a:solidFill>
          <a:ln>
            <a:solidFill>
              <a:srgbClr val="DA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91640"/>
            <a:ext cx="411480" cy="274320"/>
          </a:xfrm>
          <a:prstGeom prst="rect">
            <a:avLst/>
          </a:prstGeom>
          <a:noFill/>
        </p:spPr>
        <p:txBody>
          <a:bodyPr wrap="none" lIns="36576" rIns="36576" tIns="36576" bIns="36576" anchor="t">
            <a:spAutoFit/>
          </a:bodyPr>
          <a:lstStyle/>
          <a:p>
            <a:pPr algn="l">
              <a:spcAft>
                <a:spcPts val="700"/>
              </a:spcAft>
              <a:defRPr sz="1000" b="1">
                <a:solidFill>
                  <a:srgbClr val="1CA6A0"/>
                </a:solidFill>
                <a:latin typeface="Aptos"/>
              </a:defRPr>
            </a:pPr>
            <a:r>
              <a:t>01</a:t>
            </a:r>
          </a:p>
        </p:txBody>
      </p:sp>
      <p:sp>
        <p:nvSpPr>
          <p:cNvPr id="8" name="TextBox 7"/>
          <p:cNvSpPr txBox="1"/>
          <p:nvPr/>
        </p:nvSpPr>
        <p:spPr>
          <a:xfrm>
            <a:off x="822960" y="1984248"/>
            <a:ext cx="1874519" cy="274320"/>
          </a:xfrm>
          <a:prstGeom prst="rect">
            <a:avLst/>
          </a:prstGeom>
          <a:noFill/>
        </p:spPr>
        <p:txBody>
          <a:bodyPr wrap="none" lIns="36576" rIns="36576" tIns="36576" bIns="36576" anchor="t">
            <a:spAutoFit/>
          </a:bodyPr>
          <a:lstStyle/>
          <a:p>
            <a:pPr algn="l">
              <a:spcAft>
                <a:spcPts val="700"/>
              </a:spcAft>
              <a:defRPr sz="1400" b="1">
                <a:solidFill>
                  <a:srgbClr val="12203A"/>
                </a:solidFill>
                <a:latin typeface="Aptos"/>
              </a:defRPr>
            </a:pPr>
            <a:r>
              <a:t>Excel dataset</a:t>
            </a:r>
          </a:p>
        </p:txBody>
      </p:sp>
      <p:sp>
        <p:nvSpPr>
          <p:cNvPr id="9" name="TextBox 8"/>
          <p:cNvSpPr txBox="1"/>
          <p:nvPr/>
        </p:nvSpPr>
        <p:spPr>
          <a:xfrm>
            <a:off x="822960" y="2313432"/>
            <a:ext cx="1874519" cy="329184"/>
          </a:xfrm>
          <a:prstGeom prst="rect">
            <a:avLst/>
          </a:prstGeom>
          <a:noFill/>
        </p:spPr>
        <p:txBody>
          <a:bodyPr wrap="none" lIns="36576" rIns="36576" tIns="36576" bIns="36576" anchor="t">
            <a:spAutoFit/>
          </a:bodyPr>
          <a:lstStyle/>
          <a:p>
            <a:pPr algn="l">
              <a:spcAft>
                <a:spcPts val="700"/>
              </a:spcAft>
              <a:defRPr sz="1000" b="0">
                <a:solidFill>
                  <a:srgbClr val="637387"/>
                </a:solidFill>
                <a:latin typeface="Aptos"/>
              </a:defRPr>
            </a:pPr>
            <a:r>
              <a:t>Tweet text + target</a:t>
            </a:r>
          </a:p>
        </p:txBody>
      </p:sp>
      <p:sp>
        <p:nvSpPr>
          <p:cNvPr id="10" name="Rounded Rectangle 9"/>
          <p:cNvSpPr/>
          <p:nvPr/>
        </p:nvSpPr>
        <p:spPr>
          <a:xfrm>
            <a:off x="3566160" y="1600200"/>
            <a:ext cx="2148840" cy="1143000"/>
          </a:xfrm>
          <a:prstGeom prst="roundRect">
            <a:avLst/>
          </a:prstGeom>
          <a:solidFill>
            <a:srgbClr val="EFF5F9"/>
          </a:solidFill>
          <a:ln>
            <a:solidFill>
              <a:srgbClr val="DA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03320" y="1691640"/>
            <a:ext cx="411480" cy="274320"/>
          </a:xfrm>
          <a:prstGeom prst="rect">
            <a:avLst/>
          </a:prstGeom>
          <a:noFill/>
        </p:spPr>
        <p:txBody>
          <a:bodyPr wrap="none" lIns="36576" rIns="36576" tIns="36576" bIns="36576" anchor="t">
            <a:spAutoFit/>
          </a:bodyPr>
          <a:lstStyle/>
          <a:p>
            <a:pPr algn="l">
              <a:spcAft>
                <a:spcPts val="700"/>
              </a:spcAft>
              <a:defRPr sz="1000" b="1">
                <a:solidFill>
                  <a:srgbClr val="5DC4DC"/>
                </a:solidFill>
                <a:latin typeface="Aptos"/>
              </a:defRPr>
            </a:pPr>
            <a:r>
              <a:t>02</a:t>
            </a:r>
          </a:p>
        </p:txBody>
      </p:sp>
      <p:sp>
        <p:nvSpPr>
          <p:cNvPr id="12" name="TextBox 11"/>
          <p:cNvSpPr txBox="1"/>
          <p:nvPr/>
        </p:nvSpPr>
        <p:spPr>
          <a:xfrm>
            <a:off x="3703320" y="1984248"/>
            <a:ext cx="1874519" cy="274320"/>
          </a:xfrm>
          <a:prstGeom prst="rect">
            <a:avLst/>
          </a:prstGeom>
          <a:noFill/>
        </p:spPr>
        <p:txBody>
          <a:bodyPr wrap="none" lIns="36576" rIns="36576" tIns="36576" bIns="36576" anchor="t">
            <a:spAutoFit/>
          </a:bodyPr>
          <a:lstStyle/>
          <a:p>
            <a:pPr algn="l">
              <a:spcAft>
                <a:spcPts val="700"/>
              </a:spcAft>
              <a:defRPr sz="1400" b="1">
                <a:solidFill>
                  <a:srgbClr val="12203A"/>
                </a:solidFill>
                <a:latin typeface="Aptos"/>
              </a:defRPr>
            </a:pPr>
            <a:r>
              <a:t>Data preparation</a:t>
            </a:r>
          </a:p>
        </p:txBody>
      </p:sp>
      <p:sp>
        <p:nvSpPr>
          <p:cNvPr id="13" name="TextBox 12"/>
          <p:cNvSpPr txBox="1"/>
          <p:nvPr/>
        </p:nvSpPr>
        <p:spPr>
          <a:xfrm>
            <a:off x="3703320" y="2313432"/>
            <a:ext cx="1874519" cy="329184"/>
          </a:xfrm>
          <a:prstGeom prst="rect">
            <a:avLst/>
          </a:prstGeom>
          <a:noFill/>
        </p:spPr>
        <p:txBody>
          <a:bodyPr wrap="none" lIns="36576" rIns="36576" tIns="36576" bIns="36576" anchor="t">
            <a:spAutoFit/>
          </a:bodyPr>
          <a:lstStyle/>
          <a:p>
            <a:pPr algn="l">
              <a:spcAft>
                <a:spcPts val="700"/>
              </a:spcAft>
              <a:defRPr sz="1000" b="0">
                <a:solidFill>
                  <a:srgbClr val="637387"/>
                </a:solidFill>
                <a:latin typeface="Aptos"/>
              </a:defRPr>
            </a:pPr>
            <a:r>
              <a:t>Missing values, duplicates</a:t>
            </a:r>
          </a:p>
        </p:txBody>
      </p:sp>
      <p:sp>
        <p:nvSpPr>
          <p:cNvPr id="14" name="Rounded Rectangle 13"/>
          <p:cNvSpPr/>
          <p:nvPr/>
        </p:nvSpPr>
        <p:spPr>
          <a:xfrm>
            <a:off x="6446520" y="1600200"/>
            <a:ext cx="2148840" cy="1143000"/>
          </a:xfrm>
          <a:prstGeom prst="roundRect">
            <a:avLst/>
          </a:prstGeom>
          <a:solidFill>
            <a:srgbClr val="EFF5F9"/>
          </a:solidFill>
          <a:ln>
            <a:solidFill>
              <a:srgbClr val="DA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0" y="1691640"/>
            <a:ext cx="411480" cy="274320"/>
          </a:xfrm>
          <a:prstGeom prst="rect">
            <a:avLst/>
          </a:prstGeom>
          <a:noFill/>
        </p:spPr>
        <p:txBody>
          <a:bodyPr wrap="none" lIns="36576" rIns="36576" tIns="36576" bIns="36576" anchor="t">
            <a:spAutoFit/>
          </a:bodyPr>
          <a:lstStyle/>
          <a:p>
            <a:pPr algn="l">
              <a:spcAft>
                <a:spcPts val="700"/>
              </a:spcAft>
              <a:defRPr sz="1000" b="1">
                <a:solidFill>
                  <a:srgbClr val="EB994A"/>
                </a:solidFill>
                <a:latin typeface="Aptos"/>
              </a:defRPr>
            </a:pPr>
            <a:r>
              <a:t>03</a:t>
            </a:r>
          </a:p>
        </p:txBody>
      </p:sp>
      <p:sp>
        <p:nvSpPr>
          <p:cNvPr id="16" name="TextBox 15"/>
          <p:cNvSpPr txBox="1"/>
          <p:nvPr/>
        </p:nvSpPr>
        <p:spPr>
          <a:xfrm>
            <a:off x="6583680" y="1984248"/>
            <a:ext cx="1874519" cy="274320"/>
          </a:xfrm>
          <a:prstGeom prst="rect">
            <a:avLst/>
          </a:prstGeom>
          <a:noFill/>
        </p:spPr>
        <p:txBody>
          <a:bodyPr wrap="none" lIns="36576" rIns="36576" tIns="36576" bIns="36576" anchor="t">
            <a:spAutoFit/>
          </a:bodyPr>
          <a:lstStyle/>
          <a:p>
            <a:pPr algn="l">
              <a:spcAft>
                <a:spcPts val="700"/>
              </a:spcAft>
              <a:defRPr sz="1400" b="1">
                <a:solidFill>
                  <a:srgbClr val="12203A"/>
                </a:solidFill>
                <a:latin typeface="Aptos"/>
              </a:defRPr>
            </a:pPr>
            <a:r>
              <a:t>Text cleaning</a:t>
            </a:r>
          </a:p>
        </p:txBody>
      </p:sp>
      <p:sp>
        <p:nvSpPr>
          <p:cNvPr id="17" name="TextBox 16"/>
          <p:cNvSpPr txBox="1"/>
          <p:nvPr/>
        </p:nvSpPr>
        <p:spPr>
          <a:xfrm>
            <a:off x="6583680" y="2313432"/>
            <a:ext cx="1874519" cy="329184"/>
          </a:xfrm>
          <a:prstGeom prst="rect">
            <a:avLst/>
          </a:prstGeom>
          <a:noFill/>
        </p:spPr>
        <p:txBody>
          <a:bodyPr wrap="none" lIns="36576" rIns="36576" tIns="36576" bIns="36576" anchor="t">
            <a:spAutoFit/>
          </a:bodyPr>
          <a:lstStyle/>
          <a:p>
            <a:pPr algn="l">
              <a:spcAft>
                <a:spcPts val="700"/>
              </a:spcAft>
              <a:defRPr sz="1000" b="0">
                <a:solidFill>
                  <a:srgbClr val="637387"/>
                </a:solidFill>
                <a:latin typeface="Aptos"/>
              </a:defRPr>
            </a:pPr>
            <a:r>
              <a:t>Normalize and remove noise</a:t>
            </a:r>
          </a:p>
        </p:txBody>
      </p:sp>
      <p:sp>
        <p:nvSpPr>
          <p:cNvPr id="18" name="Rounded Rectangle 17"/>
          <p:cNvSpPr/>
          <p:nvPr/>
        </p:nvSpPr>
        <p:spPr>
          <a:xfrm>
            <a:off x="9326880" y="1600200"/>
            <a:ext cx="2148840" cy="1143000"/>
          </a:xfrm>
          <a:prstGeom prst="roundRect">
            <a:avLst/>
          </a:prstGeom>
          <a:solidFill>
            <a:srgbClr val="EFF5F9"/>
          </a:solidFill>
          <a:ln>
            <a:solidFill>
              <a:srgbClr val="DA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64040" y="1691640"/>
            <a:ext cx="411480" cy="274320"/>
          </a:xfrm>
          <a:prstGeom prst="rect">
            <a:avLst/>
          </a:prstGeom>
          <a:noFill/>
        </p:spPr>
        <p:txBody>
          <a:bodyPr wrap="none" lIns="36576" rIns="36576" tIns="36576" bIns="36576" anchor="t">
            <a:spAutoFit/>
          </a:bodyPr>
          <a:lstStyle/>
          <a:p>
            <a:pPr algn="l">
              <a:spcAft>
                <a:spcPts val="700"/>
              </a:spcAft>
              <a:defRPr sz="1000" b="1">
                <a:solidFill>
                  <a:srgbClr val="3E9D74"/>
                </a:solidFill>
                <a:latin typeface="Aptos"/>
              </a:defRPr>
            </a:pPr>
            <a:r>
              <a:t>04</a:t>
            </a:r>
          </a:p>
        </p:txBody>
      </p:sp>
      <p:sp>
        <p:nvSpPr>
          <p:cNvPr id="20" name="TextBox 19"/>
          <p:cNvSpPr txBox="1"/>
          <p:nvPr/>
        </p:nvSpPr>
        <p:spPr>
          <a:xfrm>
            <a:off x="9464040" y="1984248"/>
            <a:ext cx="1874519" cy="274320"/>
          </a:xfrm>
          <a:prstGeom prst="rect">
            <a:avLst/>
          </a:prstGeom>
          <a:noFill/>
        </p:spPr>
        <p:txBody>
          <a:bodyPr wrap="none" lIns="36576" rIns="36576" tIns="36576" bIns="36576" anchor="t">
            <a:spAutoFit/>
          </a:bodyPr>
          <a:lstStyle/>
          <a:p>
            <a:pPr algn="l">
              <a:spcAft>
                <a:spcPts val="700"/>
              </a:spcAft>
              <a:defRPr sz="1400" b="1">
                <a:solidFill>
                  <a:srgbClr val="12203A"/>
                </a:solidFill>
                <a:latin typeface="Aptos"/>
              </a:defRPr>
            </a:pPr>
            <a:r>
              <a:t>TF-IDF</a:t>
            </a:r>
          </a:p>
        </p:txBody>
      </p:sp>
      <p:sp>
        <p:nvSpPr>
          <p:cNvPr id="21" name="TextBox 20"/>
          <p:cNvSpPr txBox="1"/>
          <p:nvPr/>
        </p:nvSpPr>
        <p:spPr>
          <a:xfrm>
            <a:off x="9464040" y="2313432"/>
            <a:ext cx="1874519" cy="329184"/>
          </a:xfrm>
          <a:prstGeom prst="rect">
            <a:avLst/>
          </a:prstGeom>
          <a:noFill/>
        </p:spPr>
        <p:txBody>
          <a:bodyPr wrap="none" lIns="36576" rIns="36576" tIns="36576" bIns="36576" anchor="t">
            <a:spAutoFit/>
          </a:bodyPr>
          <a:lstStyle/>
          <a:p>
            <a:pPr algn="l">
              <a:spcAft>
                <a:spcPts val="700"/>
              </a:spcAft>
              <a:defRPr sz="1000" b="0">
                <a:solidFill>
                  <a:srgbClr val="637387"/>
                </a:solidFill>
                <a:latin typeface="Aptos"/>
              </a:defRPr>
            </a:pPr>
            <a:r>
              <a:t>Unigrams + bigrams</a:t>
            </a:r>
          </a:p>
        </p:txBody>
      </p:sp>
      <p:sp>
        <p:nvSpPr>
          <p:cNvPr id="22" name="Rounded Rectangle 21"/>
          <p:cNvSpPr/>
          <p:nvPr/>
        </p:nvSpPr>
        <p:spPr>
          <a:xfrm>
            <a:off x="9326880" y="3749039"/>
            <a:ext cx="2148840" cy="1143000"/>
          </a:xfrm>
          <a:prstGeom prst="roundRect">
            <a:avLst/>
          </a:prstGeom>
          <a:solidFill>
            <a:srgbClr val="EFF5F9"/>
          </a:solidFill>
          <a:ln>
            <a:solidFill>
              <a:srgbClr val="DA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64040" y="3840479"/>
            <a:ext cx="411480" cy="274320"/>
          </a:xfrm>
          <a:prstGeom prst="rect">
            <a:avLst/>
          </a:prstGeom>
          <a:noFill/>
        </p:spPr>
        <p:txBody>
          <a:bodyPr wrap="none" lIns="36576" rIns="36576" tIns="36576" bIns="36576" anchor="t">
            <a:spAutoFit/>
          </a:bodyPr>
          <a:lstStyle/>
          <a:p>
            <a:pPr algn="l">
              <a:spcAft>
                <a:spcPts val="700"/>
              </a:spcAft>
              <a:defRPr sz="1000" b="1">
                <a:solidFill>
                  <a:srgbClr val="1CA6A0"/>
                </a:solidFill>
                <a:latin typeface="Aptos"/>
              </a:defRPr>
            </a:pPr>
            <a:r>
              <a:t>05</a:t>
            </a:r>
          </a:p>
        </p:txBody>
      </p:sp>
      <p:sp>
        <p:nvSpPr>
          <p:cNvPr id="24" name="TextBox 23"/>
          <p:cNvSpPr txBox="1"/>
          <p:nvPr/>
        </p:nvSpPr>
        <p:spPr>
          <a:xfrm>
            <a:off x="9464040" y="4133087"/>
            <a:ext cx="1874519" cy="274320"/>
          </a:xfrm>
          <a:prstGeom prst="rect">
            <a:avLst/>
          </a:prstGeom>
          <a:noFill/>
        </p:spPr>
        <p:txBody>
          <a:bodyPr wrap="none" lIns="36576" rIns="36576" tIns="36576" bIns="36576" anchor="t">
            <a:spAutoFit/>
          </a:bodyPr>
          <a:lstStyle/>
          <a:p>
            <a:pPr algn="l">
              <a:spcAft>
                <a:spcPts val="700"/>
              </a:spcAft>
              <a:defRPr sz="1400" b="1">
                <a:solidFill>
                  <a:srgbClr val="12203A"/>
                </a:solidFill>
                <a:latin typeface="Aptos"/>
              </a:defRPr>
            </a:pPr>
            <a:r>
              <a:t>Model training</a:t>
            </a:r>
          </a:p>
        </p:txBody>
      </p:sp>
      <p:sp>
        <p:nvSpPr>
          <p:cNvPr id="25" name="TextBox 24"/>
          <p:cNvSpPr txBox="1"/>
          <p:nvPr/>
        </p:nvSpPr>
        <p:spPr>
          <a:xfrm>
            <a:off x="9464040" y="4462272"/>
            <a:ext cx="1874519" cy="329184"/>
          </a:xfrm>
          <a:prstGeom prst="rect">
            <a:avLst/>
          </a:prstGeom>
          <a:noFill/>
        </p:spPr>
        <p:txBody>
          <a:bodyPr wrap="none" lIns="36576" rIns="36576" tIns="36576" bIns="36576" anchor="t">
            <a:spAutoFit/>
          </a:bodyPr>
          <a:lstStyle/>
          <a:p>
            <a:pPr algn="l">
              <a:spcAft>
                <a:spcPts val="700"/>
              </a:spcAft>
              <a:defRPr sz="1000" b="0">
                <a:solidFill>
                  <a:srgbClr val="637387"/>
                </a:solidFill>
                <a:latin typeface="Aptos"/>
              </a:defRPr>
            </a:pPr>
            <a:r>
              <a:t>3 classifiers compared</a:t>
            </a:r>
          </a:p>
        </p:txBody>
      </p:sp>
      <p:sp>
        <p:nvSpPr>
          <p:cNvPr id="26" name="Rounded Rectangle 25"/>
          <p:cNvSpPr/>
          <p:nvPr/>
        </p:nvSpPr>
        <p:spPr>
          <a:xfrm>
            <a:off x="6446520" y="3749039"/>
            <a:ext cx="2148840" cy="1143000"/>
          </a:xfrm>
          <a:prstGeom prst="roundRect">
            <a:avLst/>
          </a:prstGeom>
          <a:solidFill>
            <a:srgbClr val="EFF5F9"/>
          </a:solidFill>
          <a:ln>
            <a:solidFill>
              <a:srgbClr val="DA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83680" y="3840479"/>
            <a:ext cx="411480" cy="274320"/>
          </a:xfrm>
          <a:prstGeom prst="rect">
            <a:avLst/>
          </a:prstGeom>
          <a:noFill/>
        </p:spPr>
        <p:txBody>
          <a:bodyPr wrap="none" lIns="36576" rIns="36576" tIns="36576" bIns="36576" anchor="t">
            <a:spAutoFit/>
          </a:bodyPr>
          <a:lstStyle/>
          <a:p>
            <a:pPr algn="l">
              <a:spcAft>
                <a:spcPts val="700"/>
              </a:spcAft>
              <a:defRPr sz="1000" b="1">
                <a:solidFill>
                  <a:srgbClr val="5DC4DC"/>
                </a:solidFill>
                <a:latin typeface="Aptos"/>
              </a:defRPr>
            </a:pPr>
            <a:r>
              <a:t>06</a:t>
            </a:r>
          </a:p>
        </p:txBody>
      </p:sp>
      <p:sp>
        <p:nvSpPr>
          <p:cNvPr id="28" name="TextBox 27"/>
          <p:cNvSpPr txBox="1"/>
          <p:nvPr/>
        </p:nvSpPr>
        <p:spPr>
          <a:xfrm>
            <a:off x="6583680" y="4133087"/>
            <a:ext cx="1874519" cy="274320"/>
          </a:xfrm>
          <a:prstGeom prst="rect">
            <a:avLst/>
          </a:prstGeom>
          <a:noFill/>
        </p:spPr>
        <p:txBody>
          <a:bodyPr wrap="none" lIns="36576" rIns="36576" tIns="36576" bIns="36576" anchor="t">
            <a:spAutoFit/>
          </a:bodyPr>
          <a:lstStyle/>
          <a:p>
            <a:pPr algn="l">
              <a:spcAft>
                <a:spcPts val="700"/>
              </a:spcAft>
              <a:defRPr sz="1400" b="1">
                <a:solidFill>
                  <a:srgbClr val="12203A"/>
                </a:solidFill>
                <a:latin typeface="Aptos"/>
              </a:defRPr>
            </a:pPr>
            <a:r>
              <a:t>Evaluation</a:t>
            </a:r>
          </a:p>
        </p:txBody>
      </p:sp>
      <p:sp>
        <p:nvSpPr>
          <p:cNvPr id="29" name="TextBox 28"/>
          <p:cNvSpPr txBox="1"/>
          <p:nvPr/>
        </p:nvSpPr>
        <p:spPr>
          <a:xfrm>
            <a:off x="6583680" y="4462272"/>
            <a:ext cx="1874519" cy="329184"/>
          </a:xfrm>
          <a:prstGeom prst="rect">
            <a:avLst/>
          </a:prstGeom>
          <a:noFill/>
        </p:spPr>
        <p:txBody>
          <a:bodyPr wrap="none" lIns="36576" rIns="36576" tIns="36576" bIns="36576" anchor="t">
            <a:spAutoFit/>
          </a:bodyPr>
          <a:lstStyle/>
          <a:p>
            <a:pPr algn="l">
              <a:spcAft>
                <a:spcPts val="700"/>
              </a:spcAft>
              <a:defRPr sz="1000" b="0">
                <a:solidFill>
                  <a:srgbClr val="637387"/>
                </a:solidFill>
                <a:latin typeface="Aptos"/>
              </a:defRPr>
            </a:pPr>
            <a:r>
              <a:t>F1, precision, recall, ROC-AUC</a:t>
            </a:r>
          </a:p>
        </p:txBody>
      </p:sp>
      <p:sp>
        <p:nvSpPr>
          <p:cNvPr id="30" name="Rounded Rectangle 29"/>
          <p:cNvSpPr/>
          <p:nvPr/>
        </p:nvSpPr>
        <p:spPr>
          <a:xfrm>
            <a:off x="3566160" y="3749039"/>
            <a:ext cx="2148840" cy="1143000"/>
          </a:xfrm>
          <a:prstGeom prst="roundRect">
            <a:avLst/>
          </a:prstGeom>
          <a:solidFill>
            <a:srgbClr val="EFF5F9"/>
          </a:solidFill>
          <a:ln>
            <a:solidFill>
              <a:srgbClr val="DA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703320" y="3840479"/>
            <a:ext cx="411480" cy="274320"/>
          </a:xfrm>
          <a:prstGeom prst="rect">
            <a:avLst/>
          </a:prstGeom>
          <a:noFill/>
        </p:spPr>
        <p:txBody>
          <a:bodyPr wrap="none" lIns="36576" rIns="36576" tIns="36576" bIns="36576" anchor="t">
            <a:spAutoFit/>
          </a:bodyPr>
          <a:lstStyle/>
          <a:p>
            <a:pPr algn="l">
              <a:spcAft>
                <a:spcPts val="700"/>
              </a:spcAft>
              <a:defRPr sz="1000" b="1">
                <a:solidFill>
                  <a:srgbClr val="EB994A"/>
                </a:solidFill>
                <a:latin typeface="Aptos"/>
              </a:defRPr>
            </a:pPr>
            <a:r>
              <a:t>07</a:t>
            </a:r>
          </a:p>
        </p:txBody>
      </p:sp>
      <p:sp>
        <p:nvSpPr>
          <p:cNvPr id="32" name="TextBox 31"/>
          <p:cNvSpPr txBox="1"/>
          <p:nvPr/>
        </p:nvSpPr>
        <p:spPr>
          <a:xfrm>
            <a:off x="3703320" y="4133087"/>
            <a:ext cx="1874519" cy="274320"/>
          </a:xfrm>
          <a:prstGeom prst="rect">
            <a:avLst/>
          </a:prstGeom>
          <a:noFill/>
        </p:spPr>
        <p:txBody>
          <a:bodyPr wrap="none" lIns="36576" rIns="36576" tIns="36576" bIns="36576" anchor="t">
            <a:spAutoFit/>
          </a:bodyPr>
          <a:lstStyle/>
          <a:p>
            <a:pPr algn="l">
              <a:spcAft>
                <a:spcPts val="700"/>
              </a:spcAft>
              <a:defRPr sz="1400" b="1">
                <a:solidFill>
                  <a:srgbClr val="12203A"/>
                </a:solidFill>
                <a:latin typeface="Aptos"/>
              </a:defRPr>
            </a:pPr>
            <a:r>
              <a:t>Saved artifacts</a:t>
            </a:r>
          </a:p>
        </p:txBody>
      </p:sp>
      <p:sp>
        <p:nvSpPr>
          <p:cNvPr id="33" name="TextBox 32"/>
          <p:cNvSpPr txBox="1"/>
          <p:nvPr/>
        </p:nvSpPr>
        <p:spPr>
          <a:xfrm>
            <a:off x="3703320" y="4462272"/>
            <a:ext cx="1874519" cy="329184"/>
          </a:xfrm>
          <a:prstGeom prst="rect">
            <a:avLst/>
          </a:prstGeom>
          <a:noFill/>
        </p:spPr>
        <p:txBody>
          <a:bodyPr wrap="none" lIns="36576" rIns="36576" tIns="36576" bIns="36576" anchor="t">
            <a:spAutoFit/>
          </a:bodyPr>
          <a:lstStyle/>
          <a:p>
            <a:pPr algn="l">
              <a:spcAft>
                <a:spcPts val="700"/>
              </a:spcAft>
              <a:defRPr sz="1000" b="0">
                <a:solidFill>
                  <a:srgbClr val="637387"/>
                </a:solidFill>
                <a:latin typeface="Aptos"/>
              </a:defRPr>
            </a:pPr>
            <a:r>
              <a:t>Model + vectorizer (.pkl)</a:t>
            </a:r>
          </a:p>
        </p:txBody>
      </p:sp>
      <p:sp>
        <p:nvSpPr>
          <p:cNvPr id="34" name="Rounded Rectangle 33"/>
          <p:cNvSpPr/>
          <p:nvPr/>
        </p:nvSpPr>
        <p:spPr>
          <a:xfrm>
            <a:off x="685800" y="3749039"/>
            <a:ext cx="2148840" cy="1143000"/>
          </a:xfrm>
          <a:prstGeom prst="roundRect">
            <a:avLst/>
          </a:prstGeom>
          <a:solidFill>
            <a:srgbClr val="EFF5F9"/>
          </a:solidFill>
          <a:ln>
            <a:solidFill>
              <a:srgbClr val="DA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2960" y="3840479"/>
            <a:ext cx="411480" cy="274320"/>
          </a:xfrm>
          <a:prstGeom prst="rect">
            <a:avLst/>
          </a:prstGeom>
          <a:noFill/>
        </p:spPr>
        <p:txBody>
          <a:bodyPr wrap="none" lIns="36576" rIns="36576" tIns="36576" bIns="36576" anchor="t">
            <a:spAutoFit/>
          </a:bodyPr>
          <a:lstStyle/>
          <a:p>
            <a:pPr algn="l">
              <a:spcAft>
                <a:spcPts val="700"/>
              </a:spcAft>
              <a:defRPr sz="1000" b="1">
                <a:solidFill>
                  <a:srgbClr val="3E9D74"/>
                </a:solidFill>
                <a:latin typeface="Aptos"/>
              </a:defRPr>
            </a:pPr>
            <a:r>
              <a:t>08</a:t>
            </a:r>
          </a:p>
        </p:txBody>
      </p:sp>
      <p:sp>
        <p:nvSpPr>
          <p:cNvPr id="36" name="TextBox 35"/>
          <p:cNvSpPr txBox="1"/>
          <p:nvPr/>
        </p:nvSpPr>
        <p:spPr>
          <a:xfrm>
            <a:off x="822960" y="4133087"/>
            <a:ext cx="1874519" cy="274320"/>
          </a:xfrm>
          <a:prstGeom prst="rect">
            <a:avLst/>
          </a:prstGeom>
          <a:noFill/>
        </p:spPr>
        <p:txBody>
          <a:bodyPr wrap="none" lIns="36576" rIns="36576" tIns="36576" bIns="36576" anchor="t">
            <a:spAutoFit/>
          </a:bodyPr>
          <a:lstStyle/>
          <a:p>
            <a:pPr algn="l">
              <a:spcAft>
                <a:spcPts val="700"/>
              </a:spcAft>
              <a:defRPr sz="1400" b="1">
                <a:solidFill>
                  <a:srgbClr val="12203A"/>
                </a:solidFill>
                <a:latin typeface="Aptos"/>
              </a:defRPr>
            </a:pPr>
            <a:r>
              <a:t>Flask UI</a:t>
            </a:r>
          </a:p>
        </p:txBody>
      </p:sp>
      <p:sp>
        <p:nvSpPr>
          <p:cNvPr id="37" name="TextBox 36"/>
          <p:cNvSpPr txBox="1"/>
          <p:nvPr/>
        </p:nvSpPr>
        <p:spPr>
          <a:xfrm>
            <a:off x="822960" y="4462272"/>
            <a:ext cx="1874519" cy="329184"/>
          </a:xfrm>
          <a:prstGeom prst="rect">
            <a:avLst/>
          </a:prstGeom>
          <a:noFill/>
        </p:spPr>
        <p:txBody>
          <a:bodyPr wrap="none" lIns="36576" rIns="36576" tIns="36576" bIns="36576" anchor="t">
            <a:spAutoFit/>
          </a:bodyPr>
          <a:lstStyle/>
          <a:p>
            <a:pPr algn="l">
              <a:spcAft>
                <a:spcPts val="700"/>
              </a:spcAft>
              <a:defRPr sz="1000" b="0">
                <a:solidFill>
                  <a:srgbClr val="637387"/>
                </a:solidFill>
                <a:latin typeface="Aptos"/>
              </a:defRPr>
            </a:pPr>
            <a:r>
              <a:t>Input tweet → prediction</a:t>
            </a:r>
          </a:p>
        </p:txBody>
      </p:sp>
      <p:cxnSp>
        <p:nvCxnSpPr>
          <p:cNvPr id="38" name="Connector 37"/>
          <p:cNvCxnSpPr/>
          <p:nvPr/>
        </p:nvCxnSpPr>
        <p:spPr>
          <a:xfrm>
            <a:off x="2834640" y="2148840"/>
            <a:ext cx="685800" cy="0"/>
          </a:xfrm>
          <a:prstGeom prst="line">
            <a:avLst/>
          </a:prstGeom>
          <a:ln w="21590">
            <a:solidFill>
              <a:srgbClr val="1CA6A0"/>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5715000" y="2148840"/>
            <a:ext cx="685800" cy="0"/>
          </a:xfrm>
          <a:prstGeom prst="line">
            <a:avLst/>
          </a:prstGeom>
          <a:ln w="21590">
            <a:solidFill>
              <a:srgbClr val="1CA6A0"/>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8595360" y="2148840"/>
            <a:ext cx="685800" cy="0"/>
          </a:xfrm>
          <a:prstGeom prst="line">
            <a:avLst/>
          </a:prstGeom>
          <a:ln w="21590">
            <a:solidFill>
              <a:srgbClr val="1CA6A0"/>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0405872" y="2788920"/>
            <a:ext cx="0" cy="914400"/>
          </a:xfrm>
          <a:prstGeom prst="line">
            <a:avLst/>
          </a:prstGeom>
          <a:ln w="21590">
            <a:solidFill>
              <a:srgbClr val="1CA6A0"/>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a:off x="8613648" y="4315968"/>
            <a:ext cx="667512" cy="0"/>
          </a:xfrm>
          <a:prstGeom prst="line">
            <a:avLst/>
          </a:prstGeom>
          <a:ln w="21590">
            <a:solidFill>
              <a:srgbClr val="1CA6A0"/>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a:off x="5733288" y="4315968"/>
            <a:ext cx="667512" cy="0"/>
          </a:xfrm>
          <a:prstGeom prst="line">
            <a:avLst/>
          </a:prstGeom>
          <a:ln w="21590">
            <a:solidFill>
              <a:srgbClr val="1CA6A0"/>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a:off x="2852928" y="4315968"/>
            <a:ext cx="667512" cy="0"/>
          </a:xfrm>
          <a:prstGeom prst="line">
            <a:avLst/>
          </a:prstGeom>
          <a:ln w="21590">
            <a:solidFill>
              <a:srgbClr val="1CA6A0"/>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731520" y="5623560"/>
            <a:ext cx="10607040" cy="411480"/>
          </a:xfrm>
          <a:prstGeom prst="rect">
            <a:avLst/>
          </a:prstGeom>
          <a:noFill/>
        </p:spPr>
        <p:txBody>
          <a:bodyPr wrap="none" lIns="36576" rIns="36576" tIns="36576" bIns="36576" anchor="t">
            <a:spAutoFit/>
          </a:bodyPr>
          <a:lstStyle/>
          <a:p>
            <a:pPr algn="l">
              <a:spcAft>
                <a:spcPts val="700"/>
              </a:spcAft>
              <a:defRPr sz="1200" b="0">
                <a:solidFill>
                  <a:srgbClr val="637387"/>
                </a:solidFill>
                <a:latin typeface="Aptos"/>
              </a:defRPr>
            </a:pPr>
            <a:r>
              <a:t>The saved TF-IDF vectorizer must be applied to new tweets exactly as it was applied during training.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10698480" cy="438912"/>
          </a:xfrm>
          <a:prstGeom prst="rect">
            <a:avLst/>
          </a:prstGeom>
          <a:noFill/>
        </p:spPr>
        <p:txBody>
          <a:bodyPr wrap="none" lIns="36576" rIns="36576" tIns="36576" bIns="36576" anchor="t">
            <a:spAutoFit/>
          </a:bodyPr>
          <a:lstStyle/>
          <a:p>
            <a:pPr algn="l">
              <a:spcAft>
                <a:spcPts val="700"/>
              </a:spcAft>
              <a:defRPr sz="2600" b="1">
                <a:solidFill>
                  <a:srgbClr val="12203A"/>
                </a:solidFill>
                <a:latin typeface="Aptos"/>
              </a:defRPr>
            </a:pPr>
            <a:r>
              <a:t>Text preprocessing &amp; feature engineering</a:t>
            </a:r>
          </a:p>
        </p:txBody>
      </p:sp>
      <p:sp>
        <p:nvSpPr>
          <p:cNvPr id="3" name="TextBox 2"/>
          <p:cNvSpPr txBox="1"/>
          <p:nvPr/>
        </p:nvSpPr>
        <p:spPr>
          <a:xfrm>
            <a:off x="594360" y="758952"/>
            <a:ext cx="10789920" cy="274320"/>
          </a:xfrm>
          <a:prstGeom prst="rect">
            <a:avLst/>
          </a:prstGeom>
          <a:noFill/>
        </p:spPr>
        <p:txBody>
          <a:bodyPr wrap="none" lIns="36576" rIns="36576" tIns="36576" bIns="36576" anchor="t">
            <a:spAutoFit/>
          </a:bodyPr>
          <a:lstStyle/>
          <a:p>
            <a:pPr algn="l">
              <a:spcAft>
                <a:spcPts val="700"/>
              </a:spcAft>
              <a:defRPr sz="1000" b="0">
                <a:solidFill>
                  <a:srgbClr val="637387"/>
                </a:solidFill>
                <a:latin typeface="Aptos"/>
              </a:defRPr>
            </a:pPr>
            <a:r>
              <a:t>Reduce noise while retaining useful word signals</a:t>
            </a:r>
          </a:p>
        </p:txBody>
      </p:sp>
      <p:sp>
        <p:nvSpPr>
          <p:cNvPr id="4" name="Rectangle 3"/>
          <p:cNvSpPr/>
          <p:nvPr/>
        </p:nvSpPr>
        <p:spPr>
          <a:xfrm>
            <a:off x="594360" y="1115568"/>
            <a:ext cx="658368" cy="50292"/>
          </a:xfrm>
          <a:prstGeom prst="rect">
            <a:avLst/>
          </a:prstGeom>
          <a:solidFill>
            <a:srgbClr val="1CA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92840" y="6473952"/>
            <a:ext cx="365760" cy="182880"/>
          </a:xfrm>
          <a:prstGeom prst="rect">
            <a:avLst/>
          </a:prstGeom>
          <a:noFill/>
        </p:spPr>
        <p:txBody>
          <a:bodyPr wrap="none" lIns="36576" rIns="36576" tIns="36576" bIns="36576" anchor="t">
            <a:spAutoFit/>
          </a:bodyPr>
          <a:lstStyle/>
          <a:p>
            <a:pPr algn="r">
              <a:spcAft>
                <a:spcPts val="700"/>
              </a:spcAft>
              <a:defRPr sz="900" b="1">
                <a:solidFill>
                  <a:srgbClr val="637387"/>
                </a:solidFill>
                <a:latin typeface="Aptos"/>
              </a:defRPr>
            </a:pPr>
            <a:r>
              <a:t>06</a:t>
            </a:r>
          </a:p>
        </p:txBody>
      </p:sp>
      <p:sp>
        <p:nvSpPr>
          <p:cNvPr id="6" name="TextBox 5"/>
          <p:cNvSpPr txBox="1"/>
          <p:nvPr/>
        </p:nvSpPr>
        <p:spPr>
          <a:xfrm>
            <a:off x="731520" y="1463040"/>
            <a:ext cx="4937760" cy="365760"/>
          </a:xfrm>
          <a:prstGeom prst="rect">
            <a:avLst/>
          </a:prstGeom>
          <a:noFill/>
        </p:spPr>
        <p:txBody>
          <a:bodyPr wrap="none" lIns="36576" rIns="36576" tIns="36576" bIns="36576" anchor="t">
            <a:spAutoFit/>
          </a:bodyPr>
          <a:lstStyle/>
          <a:p>
            <a:pPr algn="l">
              <a:spcAft>
                <a:spcPts val="700"/>
              </a:spcAft>
              <a:defRPr sz="1500" b="1">
                <a:solidFill>
                  <a:srgbClr val="12203A"/>
                </a:solidFill>
                <a:latin typeface="Aptos"/>
              </a:defRPr>
            </a:pPr>
            <a:r>
              <a:t>CLEANING RULES IN THE CODE</a:t>
            </a:r>
          </a:p>
        </p:txBody>
      </p:sp>
      <p:sp>
        <p:nvSpPr>
          <p:cNvPr id="7" name="TextBox 6"/>
          <p:cNvSpPr txBox="1"/>
          <p:nvPr/>
        </p:nvSpPr>
        <p:spPr>
          <a:xfrm>
            <a:off x="731520" y="1874519"/>
            <a:ext cx="5029200" cy="3474720"/>
          </a:xfrm>
          <a:prstGeom prst="rect">
            <a:avLst/>
          </a:prstGeom>
          <a:noFill/>
        </p:spPr>
        <p:txBody>
          <a:bodyPr wrap="none" lIns="54864" rIns="54864" tIns="27432" bIns="27432">
            <a:spAutoFit/>
          </a:bodyPr>
          <a:lstStyle/>
          <a:p>
            <a:pPr>
              <a:spcAft>
                <a:spcPts val="1100"/>
              </a:spcAft>
              <a:defRPr sz="1500">
                <a:solidFill>
                  <a:srgbClr val="233046"/>
                </a:solidFill>
                <a:latin typeface="Aptos"/>
              </a:defRPr>
            </a:pPr>
            <a:r>
              <a:t>•  Convert text to lowercase.</a:t>
            </a:r>
          </a:p>
          <a:p>
            <a:pPr>
              <a:spcAft>
                <a:spcPts val="1100"/>
              </a:spcAft>
              <a:defRPr sz="1500">
                <a:solidFill>
                  <a:srgbClr val="233046"/>
                </a:solidFill>
                <a:latin typeface="Aptos"/>
              </a:defRPr>
            </a:pPr>
            <a:r>
              <a:t>•  Remove URLs and @mentions.</a:t>
            </a:r>
          </a:p>
          <a:p>
            <a:pPr>
              <a:spcAft>
                <a:spcPts val="1100"/>
              </a:spcAft>
              <a:defRPr sz="1500">
                <a:solidFill>
                  <a:srgbClr val="233046"/>
                </a:solidFill>
                <a:latin typeface="Aptos"/>
              </a:defRPr>
            </a:pPr>
            <a:r>
              <a:t>•  Remove the # symbol while keeping hashtag words.</a:t>
            </a:r>
          </a:p>
          <a:p>
            <a:pPr>
              <a:spcAft>
                <a:spcPts val="1100"/>
              </a:spcAft>
              <a:defRPr sz="1500">
                <a:solidFill>
                  <a:srgbClr val="233046"/>
                </a:solidFill>
                <a:latin typeface="Aptos"/>
              </a:defRPr>
            </a:pPr>
            <a:r>
              <a:t>•  Replace non-letter characters with spaces.</a:t>
            </a:r>
          </a:p>
          <a:p>
            <a:pPr>
              <a:spcAft>
                <a:spcPts val="1100"/>
              </a:spcAft>
              <a:defRPr sz="1500">
                <a:solidFill>
                  <a:srgbClr val="233046"/>
                </a:solidFill>
                <a:latin typeface="Aptos"/>
              </a:defRPr>
            </a:pPr>
            <a:r>
              <a:t>•  Collapse repeated whitespace and trim the text.</a:t>
            </a:r>
          </a:p>
        </p:txBody>
      </p:sp>
      <p:sp>
        <p:nvSpPr>
          <p:cNvPr id="8" name="TextBox 7"/>
          <p:cNvSpPr txBox="1"/>
          <p:nvPr/>
        </p:nvSpPr>
        <p:spPr>
          <a:xfrm>
            <a:off x="6217920" y="1463040"/>
            <a:ext cx="4937760" cy="365760"/>
          </a:xfrm>
          <a:prstGeom prst="rect">
            <a:avLst/>
          </a:prstGeom>
          <a:noFill/>
        </p:spPr>
        <p:txBody>
          <a:bodyPr wrap="none" lIns="36576" rIns="36576" tIns="36576" bIns="36576" anchor="t">
            <a:spAutoFit/>
          </a:bodyPr>
          <a:lstStyle/>
          <a:p>
            <a:pPr algn="l">
              <a:spcAft>
                <a:spcPts val="700"/>
              </a:spcAft>
              <a:defRPr sz="1500" b="1">
                <a:solidFill>
                  <a:srgbClr val="12203A"/>
                </a:solidFill>
                <a:latin typeface="Aptos"/>
              </a:defRPr>
            </a:pPr>
            <a:r>
              <a:t>FEATURES USED FOR ANALYSIS</a:t>
            </a:r>
          </a:p>
        </p:txBody>
      </p:sp>
      <p:sp>
        <p:nvSpPr>
          <p:cNvPr id="9" name="Rounded Rectangle 8"/>
          <p:cNvSpPr/>
          <p:nvPr/>
        </p:nvSpPr>
        <p:spPr>
          <a:xfrm>
            <a:off x="6217920" y="1874519"/>
            <a:ext cx="2331720" cy="1188720"/>
          </a:xfrm>
          <a:prstGeom prst="roundRect">
            <a:avLst/>
          </a:prstGeom>
          <a:solidFill>
            <a:srgbClr val="EFF5F9"/>
          </a:solidFill>
          <a:ln>
            <a:solidFill>
              <a:srgbClr val="DE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1874519"/>
            <a:ext cx="73152" cy="1188720"/>
          </a:xfrm>
          <a:prstGeom prst="rect">
            <a:avLst/>
          </a:prstGeom>
          <a:solidFill>
            <a:srgbClr val="1CA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19088" y="2020824"/>
            <a:ext cx="1984248" cy="320040"/>
          </a:xfrm>
          <a:prstGeom prst="rect">
            <a:avLst/>
          </a:prstGeom>
          <a:noFill/>
        </p:spPr>
        <p:txBody>
          <a:bodyPr wrap="none" lIns="36576" rIns="36576" tIns="36576" bIns="36576" anchor="t">
            <a:spAutoFit/>
          </a:bodyPr>
          <a:lstStyle/>
          <a:p>
            <a:pPr algn="l">
              <a:spcAft>
                <a:spcPts val="700"/>
              </a:spcAft>
              <a:defRPr sz="1500" b="1">
                <a:solidFill>
                  <a:srgbClr val="12203A"/>
                </a:solidFill>
                <a:latin typeface="Aptos"/>
              </a:defRPr>
            </a:pPr>
            <a:r>
              <a:t>Tweet length</a:t>
            </a:r>
          </a:p>
        </p:txBody>
      </p:sp>
      <p:sp>
        <p:nvSpPr>
          <p:cNvPr id="12" name="TextBox 11"/>
          <p:cNvSpPr txBox="1"/>
          <p:nvPr/>
        </p:nvSpPr>
        <p:spPr>
          <a:xfrm>
            <a:off x="6419088" y="2414015"/>
            <a:ext cx="1965960" cy="566928"/>
          </a:xfrm>
          <a:prstGeom prst="rect">
            <a:avLst/>
          </a:prstGeom>
          <a:noFill/>
        </p:spPr>
        <p:txBody>
          <a:bodyPr wrap="none" lIns="36576" rIns="36576" tIns="36576" bIns="36576" anchor="t">
            <a:spAutoFit/>
          </a:bodyPr>
          <a:lstStyle/>
          <a:p>
            <a:pPr algn="l">
              <a:spcAft>
                <a:spcPts val="700"/>
              </a:spcAft>
              <a:defRPr sz="1200" b="0">
                <a:solidFill>
                  <a:srgbClr val="233046"/>
                </a:solidFill>
                <a:latin typeface="Aptos"/>
              </a:defRPr>
            </a:pPr>
            <a:r>
              <a:t>Number of characters</a:t>
            </a:r>
          </a:p>
        </p:txBody>
      </p:sp>
      <p:sp>
        <p:nvSpPr>
          <p:cNvPr id="13" name="Rounded Rectangle 12"/>
          <p:cNvSpPr/>
          <p:nvPr/>
        </p:nvSpPr>
        <p:spPr>
          <a:xfrm>
            <a:off x="8823960" y="1874519"/>
            <a:ext cx="2331720" cy="1188720"/>
          </a:xfrm>
          <a:prstGeom prst="roundRect">
            <a:avLst/>
          </a:prstGeom>
          <a:solidFill>
            <a:srgbClr val="EFF5F9"/>
          </a:solidFill>
          <a:ln>
            <a:solidFill>
              <a:srgbClr val="DE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823960" y="1874519"/>
            <a:ext cx="73152" cy="1188720"/>
          </a:xfrm>
          <a:prstGeom prst="rect">
            <a:avLst/>
          </a:prstGeom>
          <a:solidFill>
            <a:srgbClr val="5DC4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25128" y="2020824"/>
            <a:ext cx="1984248" cy="320040"/>
          </a:xfrm>
          <a:prstGeom prst="rect">
            <a:avLst/>
          </a:prstGeom>
          <a:noFill/>
        </p:spPr>
        <p:txBody>
          <a:bodyPr wrap="none" lIns="36576" rIns="36576" tIns="36576" bIns="36576" anchor="t">
            <a:spAutoFit/>
          </a:bodyPr>
          <a:lstStyle/>
          <a:p>
            <a:pPr algn="l">
              <a:spcAft>
                <a:spcPts val="700"/>
              </a:spcAft>
              <a:defRPr sz="1500" b="1">
                <a:solidFill>
                  <a:srgbClr val="12203A"/>
                </a:solidFill>
                <a:latin typeface="Aptos"/>
              </a:defRPr>
            </a:pPr>
            <a:r>
              <a:t>Word count</a:t>
            </a:r>
          </a:p>
        </p:txBody>
      </p:sp>
      <p:sp>
        <p:nvSpPr>
          <p:cNvPr id="16" name="TextBox 15"/>
          <p:cNvSpPr txBox="1"/>
          <p:nvPr/>
        </p:nvSpPr>
        <p:spPr>
          <a:xfrm>
            <a:off x="9025128" y="2414015"/>
            <a:ext cx="1965960" cy="566928"/>
          </a:xfrm>
          <a:prstGeom prst="rect">
            <a:avLst/>
          </a:prstGeom>
          <a:noFill/>
        </p:spPr>
        <p:txBody>
          <a:bodyPr wrap="none" lIns="36576" rIns="36576" tIns="36576" bIns="36576" anchor="t">
            <a:spAutoFit/>
          </a:bodyPr>
          <a:lstStyle/>
          <a:p>
            <a:pPr algn="l">
              <a:spcAft>
                <a:spcPts val="700"/>
              </a:spcAft>
              <a:defRPr sz="1200" b="0">
                <a:solidFill>
                  <a:srgbClr val="233046"/>
                </a:solidFill>
                <a:latin typeface="Aptos"/>
              </a:defRPr>
            </a:pPr>
            <a:r>
              <a:t>Words in each tweet</a:t>
            </a:r>
          </a:p>
        </p:txBody>
      </p:sp>
      <p:sp>
        <p:nvSpPr>
          <p:cNvPr id="17" name="Rounded Rectangle 16"/>
          <p:cNvSpPr/>
          <p:nvPr/>
        </p:nvSpPr>
        <p:spPr>
          <a:xfrm>
            <a:off x="6217920" y="3337560"/>
            <a:ext cx="2331720" cy="1188720"/>
          </a:xfrm>
          <a:prstGeom prst="roundRect">
            <a:avLst/>
          </a:prstGeom>
          <a:solidFill>
            <a:srgbClr val="EFF5F9"/>
          </a:solidFill>
          <a:ln>
            <a:solidFill>
              <a:srgbClr val="DE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17920" y="3337560"/>
            <a:ext cx="73152" cy="1188720"/>
          </a:xfrm>
          <a:prstGeom prst="rect">
            <a:avLst/>
          </a:prstGeom>
          <a:solidFill>
            <a:srgbClr val="EB99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19088" y="3483864"/>
            <a:ext cx="1984248" cy="320040"/>
          </a:xfrm>
          <a:prstGeom prst="rect">
            <a:avLst/>
          </a:prstGeom>
          <a:noFill/>
        </p:spPr>
        <p:txBody>
          <a:bodyPr wrap="none" lIns="36576" rIns="36576" tIns="36576" bIns="36576" anchor="t">
            <a:spAutoFit/>
          </a:bodyPr>
          <a:lstStyle/>
          <a:p>
            <a:pPr algn="l">
              <a:spcAft>
                <a:spcPts val="700"/>
              </a:spcAft>
              <a:defRPr sz="1500" b="1">
                <a:solidFill>
                  <a:srgbClr val="12203A"/>
                </a:solidFill>
                <a:latin typeface="Aptos"/>
              </a:defRPr>
            </a:pPr>
            <a:r>
              <a:t>Hashtag count</a:t>
            </a:r>
          </a:p>
        </p:txBody>
      </p:sp>
      <p:sp>
        <p:nvSpPr>
          <p:cNvPr id="20" name="TextBox 19"/>
          <p:cNvSpPr txBox="1"/>
          <p:nvPr/>
        </p:nvSpPr>
        <p:spPr>
          <a:xfrm>
            <a:off x="6419088" y="3877056"/>
            <a:ext cx="1965960" cy="566928"/>
          </a:xfrm>
          <a:prstGeom prst="rect">
            <a:avLst/>
          </a:prstGeom>
          <a:noFill/>
        </p:spPr>
        <p:txBody>
          <a:bodyPr wrap="none" lIns="36576" rIns="36576" tIns="36576" bIns="36576" anchor="t">
            <a:spAutoFit/>
          </a:bodyPr>
          <a:lstStyle/>
          <a:p>
            <a:pPr algn="l">
              <a:spcAft>
                <a:spcPts val="700"/>
              </a:spcAft>
              <a:defRPr sz="1200" b="0">
                <a:solidFill>
                  <a:srgbClr val="233046"/>
                </a:solidFill>
                <a:latin typeface="Aptos"/>
              </a:defRPr>
            </a:pPr>
            <a:r>
              <a:t>Occurrences of #tags</a:t>
            </a:r>
          </a:p>
        </p:txBody>
      </p:sp>
      <p:sp>
        <p:nvSpPr>
          <p:cNvPr id="21" name="Rounded Rectangle 20"/>
          <p:cNvSpPr/>
          <p:nvPr/>
        </p:nvSpPr>
        <p:spPr>
          <a:xfrm>
            <a:off x="8823960" y="3337560"/>
            <a:ext cx="2331720" cy="1188720"/>
          </a:xfrm>
          <a:prstGeom prst="roundRect">
            <a:avLst/>
          </a:prstGeom>
          <a:solidFill>
            <a:srgbClr val="EFF5F9"/>
          </a:solidFill>
          <a:ln>
            <a:solidFill>
              <a:srgbClr val="DE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823960" y="3337560"/>
            <a:ext cx="73152" cy="1188720"/>
          </a:xfrm>
          <a:prstGeom prst="rect">
            <a:avLst/>
          </a:prstGeom>
          <a:solidFill>
            <a:srgbClr val="3E9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025128" y="3483864"/>
            <a:ext cx="1984248" cy="320040"/>
          </a:xfrm>
          <a:prstGeom prst="rect">
            <a:avLst/>
          </a:prstGeom>
          <a:noFill/>
        </p:spPr>
        <p:txBody>
          <a:bodyPr wrap="none" lIns="36576" rIns="36576" tIns="36576" bIns="36576" anchor="t">
            <a:spAutoFit/>
          </a:bodyPr>
          <a:lstStyle/>
          <a:p>
            <a:pPr algn="l">
              <a:spcAft>
                <a:spcPts val="700"/>
              </a:spcAft>
              <a:defRPr sz="1500" b="1">
                <a:solidFill>
                  <a:srgbClr val="12203A"/>
                </a:solidFill>
                <a:latin typeface="Aptos"/>
              </a:defRPr>
            </a:pPr>
            <a:r>
              <a:t>URL presence</a:t>
            </a:r>
          </a:p>
        </p:txBody>
      </p:sp>
      <p:sp>
        <p:nvSpPr>
          <p:cNvPr id="24" name="TextBox 23"/>
          <p:cNvSpPr txBox="1"/>
          <p:nvPr/>
        </p:nvSpPr>
        <p:spPr>
          <a:xfrm>
            <a:off x="9025128" y="3877056"/>
            <a:ext cx="1965960" cy="566928"/>
          </a:xfrm>
          <a:prstGeom prst="rect">
            <a:avLst/>
          </a:prstGeom>
          <a:noFill/>
        </p:spPr>
        <p:txBody>
          <a:bodyPr wrap="none" lIns="36576" rIns="36576" tIns="36576" bIns="36576" anchor="t">
            <a:spAutoFit/>
          </a:bodyPr>
          <a:lstStyle/>
          <a:p>
            <a:pPr algn="l">
              <a:spcAft>
                <a:spcPts val="700"/>
              </a:spcAft>
              <a:defRPr sz="1200" b="0">
                <a:solidFill>
                  <a:srgbClr val="233046"/>
                </a:solidFill>
                <a:latin typeface="Aptos"/>
              </a:defRPr>
            </a:pPr>
            <a:r>
              <a:t>Binary indicator</a:t>
            </a:r>
          </a:p>
        </p:txBody>
      </p:sp>
      <p:sp>
        <p:nvSpPr>
          <p:cNvPr id="25" name="TextBox 24"/>
          <p:cNvSpPr txBox="1"/>
          <p:nvPr/>
        </p:nvSpPr>
        <p:spPr>
          <a:xfrm>
            <a:off x="6263640" y="4892040"/>
            <a:ext cx="4846320" cy="685800"/>
          </a:xfrm>
          <a:prstGeom prst="rect">
            <a:avLst/>
          </a:prstGeom>
          <a:noFill/>
        </p:spPr>
        <p:txBody>
          <a:bodyPr wrap="none" lIns="36576" rIns="36576" tIns="36576" bIns="36576" anchor="t">
            <a:spAutoFit/>
          </a:bodyPr>
          <a:lstStyle/>
          <a:p>
            <a:pPr algn="l">
              <a:spcAft>
                <a:spcPts val="700"/>
              </a:spcAft>
              <a:defRPr sz="1100" b="0">
                <a:solidFill>
                  <a:srgbClr val="637387"/>
                </a:solidFill>
                <a:latin typeface="Aptos"/>
              </a:defRPr>
            </a:pPr>
            <a:r>
              <a:t>Keyword frequencies and tweet-length distribution are also explored. These additional numeric features are for EDA; the current classifier trains on cleaned text.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10698480" cy="438912"/>
          </a:xfrm>
          <a:prstGeom prst="rect">
            <a:avLst/>
          </a:prstGeom>
          <a:noFill/>
        </p:spPr>
        <p:txBody>
          <a:bodyPr wrap="none" lIns="36576" rIns="36576" tIns="36576" bIns="36576" anchor="t">
            <a:spAutoFit/>
          </a:bodyPr>
          <a:lstStyle/>
          <a:p>
            <a:pPr algn="l">
              <a:spcAft>
                <a:spcPts val="700"/>
              </a:spcAft>
              <a:defRPr sz="2600" b="1">
                <a:solidFill>
                  <a:srgbClr val="12203A"/>
                </a:solidFill>
                <a:latin typeface="Aptos"/>
              </a:defRPr>
            </a:pPr>
            <a:r>
              <a:t>Turning text into model features</a:t>
            </a:r>
          </a:p>
        </p:txBody>
      </p:sp>
      <p:sp>
        <p:nvSpPr>
          <p:cNvPr id="3" name="TextBox 2"/>
          <p:cNvSpPr txBox="1"/>
          <p:nvPr/>
        </p:nvSpPr>
        <p:spPr>
          <a:xfrm>
            <a:off x="594360" y="758952"/>
            <a:ext cx="10789920" cy="274320"/>
          </a:xfrm>
          <a:prstGeom prst="rect">
            <a:avLst/>
          </a:prstGeom>
          <a:noFill/>
        </p:spPr>
        <p:txBody>
          <a:bodyPr wrap="none" lIns="36576" rIns="36576" tIns="36576" bIns="36576" anchor="t">
            <a:spAutoFit/>
          </a:bodyPr>
          <a:lstStyle/>
          <a:p>
            <a:pPr algn="l">
              <a:spcAft>
                <a:spcPts val="700"/>
              </a:spcAft>
              <a:defRPr sz="1000" b="0">
                <a:solidFill>
                  <a:srgbClr val="637387"/>
                </a:solidFill>
                <a:latin typeface="Aptos"/>
              </a:defRPr>
            </a:pPr>
            <a:r>
              <a:t>TF-IDF represents how informative a term is within a tweet</a:t>
            </a:r>
          </a:p>
        </p:txBody>
      </p:sp>
      <p:sp>
        <p:nvSpPr>
          <p:cNvPr id="4" name="Rectangle 3"/>
          <p:cNvSpPr/>
          <p:nvPr/>
        </p:nvSpPr>
        <p:spPr>
          <a:xfrm>
            <a:off x="594360" y="1115568"/>
            <a:ext cx="658368" cy="50292"/>
          </a:xfrm>
          <a:prstGeom prst="rect">
            <a:avLst/>
          </a:prstGeom>
          <a:solidFill>
            <a:srgbClr val="1CA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92840" y="6473952"/>
            <a:ext cx="365760" cy="182880"/>
          </a:xfrm>
          <a:prstGeom prst="rect">
            <a:avLst/>
          </a:prstGeom>
          <a:noFill/>
        </p:spPr>
        <p:txBody>
          <a:bodyPr wrap="none" lIns="36576" rIns="36576" tIns="36576" bIns="36576" anchor="t">
            <a:spAutoFit/>
          </a:bodyPr>
          <a:lstStyle/>
          <a:p>
            <a:pPr algn="r">
              <a:spcAft>
                <a:spcPts val="700"/>
              </a:spcAft>
              <a:defRPr sz="900" b="1">
                <a:solidFill>
                  <a:srgbClr val="637387"/>
                </a:solidFill>
                <a:latin typeface="Aptos"/>
              </a:defRPr>
            </a:pPr>
            <a:r>
              <a:t>07</a:t>
            </a:r>
          </a:p>
        </p:txBody>
      </p:sp>
      <p:sp>
        <p:nvSpPr>
          <p:cNvPr id="6" name="Rounded Rectangle 5"/>
          <p:cNvSpPr/>
          <p:nvPr/>
        </p:nvSpPr>
        <p:spPr>
          <a:xfrm>
            <a:off x="731520" y="1600200"/>
            <a:ext cx="3246120" cy="1325880"/>
          </a:xfrm>
          <a:prstGeom prst="roundRect">
            <a:avLst/>
          </a:prstGeom>
          <a:solidFill>
            <a:srgbClr val="EFF5F9"/>
          </a:solidFill>
          <a:ln>
            <a:solidFill>
              <a:srgbClr val="DE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00200"/>
            <a:ext cx="73152" cy="1325880"/>
          </a:xfrm>
          <a:prstGeom prst="rect">
            <a:avLst/>
          </a:prstGeom>
          <a:solidFill>
            <a:srgbClr val="1CA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1746504"/>
            <a:ext cx="2898648" cy="320040"/>
          </a:xfrm>
          <a:prstGeom prst="rect">
            <a:avLst/>
          </a:prstGeom>
          <a:noFill/>
        </p:spPr>
        <p:txBody>
          <a:bodyPr wrap="none" lIns="36576" rIns="36576" tIns="36576" bIns="36576" anchor="t">
            <a:spAutoFit/>
          </a:bodyPr>
          <a:lstStyle/>
          <a:p>
            <a:pPr algn="l">
              <a:spcAft>
                <a:spcPts val="700"/>
              </a:spcAft>
              <a:defRPr sz="1700" b="1">
                <a:solidFill>
                  <a:srgbClr val="12203A"/>
                </a:solidFill>
                <a:latin typeface="Aptos"/>
              </a:defRPr>
            </a:pPr>
            <a:r>
              <a:t>TF — Term Frequency</a:t>
            </a:r>
          </a:p>
        </p:txBody>
      </p:sp>
      <p:sp>
        <p:nvSpPr>
          <p:cNvPr id="9" name="TextBox 8"/>
          <p:cNvSpPr txBox="1"/>
          <p:nvPr/>
        </p:nvSpPr>
        <p:spPr>
          <a:xfrm>
            <a:off x="932688" y="2139696"/>
            <a:ext cx="2880360" cy="704087"/>
          </a:xfrm>
          <a:prstGeom prst="rect">
            <a:avLst/>
          </a:prstGeom>
          <a:noFill/>
        </p:spPr>
        <p:txBody>
          <a:bodyPr wrap="none" lIns="36576" rIns="36576" tIns="36576" bIns="36576" anchor="t">
            <a:spAutoFit/>
          </a:bodyPr>
          <a:lstStyle/>
          <a:p>
            <a:pPr algn="l">
              <a:spcAft>
                <a:spcPts val="700"/>
              </a:spcAft>
              <a:defRPr sz="1400" b="0">
                <a:solidFill>
                  <a:srgbClr val="233046"/>
                </a:solidFill>
                <a:latin typeface="Aptos"/>
              </a:defRPr>
            </a:pPr>
            <a:r>
              <a:t>How often a term appears in the tweet.</a:t>
            </a:r>
          </a:p>
        </p:txBody>
      </p:sp>
      <p:sp>
        <p:nvSpPr>
          <p:cNvPr id="10" name="Rounded Rectangle 9"/>
          <p:cNvSpPr/>
          <p:nvPr/>
        </p:nvSpPr>
        <p:spPr>
          <a:xfrm>
            <a:off x="4480560" y="1600200"/>
            <a:ext cx="3246120" cy="1325880"/>
          </a:xfrm>
          <a:prstGeom prst="roundRect">
            <a:avLst/>
          </a:prstGeom>
          <a:solidFill>
            <a:srgbClr val="EFF5F9"/>
          </a:solidFill>
          <a:ln>
            <a:solidFill>
              <a:srgbClr val="DE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80560" y="1600200"/>
            <a:ext cx="73152" cy="1325880"/>
          </a:xfrm>
          <a:prstGeom prst="rect">
            <a:avLst/>
          </a:prstGeom>
          <a:solidFill>
            <a:srgbClr val="5DC4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81728" y="1746504"/>
            <a:ext cx="2898648" cy="320040"/>
          </a:xfrm>
          <a:prstGeom prst="rect">
            <a:avLst/>
          </a:prstGeom>
          <a:noFill/>
        </p:spPr>
        <p:txBody>
          <a:bodyPr wrap="none" lIns="36576" rIns="36576" tIns="36576" bIns="36576" anchor="t">
            <a:spAutoFit/>
          </a:bodyPr>
          <a:lstStyle/>
          <a:p>
            <a:pPr algn="l">
              <a:spcAft>
                <a:spcPts val="700"/>
              </a:spcAft>
              <a:defRPr sz="1700" b="1">
                <a:solidFill>
                  <a:srgbClr val="12203A"/>
                </a:solidFill>
                <a:latin typeface="Aptos"/>
              </a:defRPr>
            </a:pPr>
            <a:r>
              <a:t>IDF — Inverse Document Frequency</a:t>
            </a:r>
          </a:p>
        </p:txBody>
      </p:sp>
      <p:sp>
        <p:nvSpPr>
          <p:cNvPr id="13" name="TextBox 12"/>
          <p:cNvSpPr txBox="1"/>
          <p:nvPr/>
        </p:nvSpPr>
        <p:spPr>
          <a:xfrm>
            <a:off x="4681728" y="2139696"/>
            <a:ext cx="2880360" cy="704087"/>
          </a:xfrm>
          <a:prstGeom prst="rect">
            <a:avLst/>
          </a:prstGeom>
          <a:noFill/>
        </p:spPr>
        <p:txBody>
          <a:bodyPr wrap="none" lIns="36576" rIns="36576" tIns="36576" bIns="36576" anchor="t">
            <a:spAutoFit/>
          </a:bodyPr>
          <a:lstStyle/>
          <a:p>
            <a:pPr algn="l">
              <a:spcAft>
                <a:spcPts val="700"/>
              </a:spcAft>
              <a:defRPr sz="1300" b="0">
                <a:solidFill>
                  <a:srgbClr val="233046"/>
                </a:solidFill>
                <a:latin typeface="Aptos"/>
              </a:defRPr>
            </a:pPr>
            <a:r>
              <a:t>Downweights terms common across many tweets.</a:t>
            </a:r>
          </a:p>
        </p:txBody>
      </p:sp>
      <p:sp>
        <p:nvSpPr>
          <p:cNvPr id="14" name="Rounded Rectangle 13"/>
          <p:cNvSpPr/>
          <p:nvPr/>
        </p:nvSpPr>
        <p:spPr>
          <a:xfrm>
            <a:off x="8229600" y="1600200"/>
            <a:ext cx="3246120" cy="1325880"/>
          </a:xfrm>
          <a:prstGeom prst="roundRect">
            <a:avLst/>
          </a:prstGeom>
          <a:solidFill>
            <a:srgbClr val="EFF5F9"/>
          </a:solidFill>
          <a:ln>
            <a:solidFill>
              <a:srgbClr val="DE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29600" y="1600200"/>
            <a:ext cx="73152" cy="1325880"/>
          </a:xfrm>
          <a:prstGeom prst="rect">
            <a:avLst/>
          </a:prstGeom>
          <a:solidFill>
            <a:srgbClr val="EB99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30768" y="1746504"/>
            <a:ext cx="2898648" cy="320040"/>
          </a:xfrm>
          <a:prstGeom prst="rect">
            <a:avLst/>
          </a:prstGeom>
          <a:noFill/>
        </p:spPr>
        <p:txBody>
          <a:bodyPr wrap="none" lIns="36576" rIns="36576" tIns="36576" bIns="36576" anchor="t">
            <a:spAutoFit/>
          </a:bodyPr>
          <a:lstStyle/>
          <a:p>
            <a:pPr algn="l">
              <a:spcAft>
                <a:spcPts val="700"/>
              </a:spcAft>
              <a:defRPr sz="1700" b="1">
                <a:solidFill>
                  <a:srgbClr val="12203A"/>
                </a:solidFill>
                <a:latin typeface="Aptos"/>
              </a:defRPr>
            </a:pPr>
            <a:r>
              <a:t>TF-IDF vector</a:t>
            </a:r>
          </a:p>
        </p:txBody>
      </p:sp>
      <p:sp>
        <p:nvSpPr>
          <p:cNvPr id="17" name="TextBox 16"/>
          <p:cNvSpPr txBox="1"/>
          <p:nvPr/>
        </p:nvSpPr>
        <p:spPr>
          <a:xfrm>
            <a:off x="8430768" y="2139696"/>
            <a:ext cx="2880360" cy="704087"/>
          </a:xfrm>
          <a:prstGeom prst="rect">
            <a:avLst/>
          </a:prstGeom>
          <a:noFill/>
        </p:spPr>
        <p:txBody>
          <a:bodyPr wrap="none" lIns="36576" rIns="36576" tIns="36576" bIns="36576" anchor="t">
            <a:spAutoFit/>
          </a:bodyPr>
          <a:lstStyle/>
          <a:p>
            <a:pPr algn="l">
              <a:spcAft>
                <a:spcPts val="700"/>
              </a:spcAft>
              <a:defRPr sz="1300" b="0">
                <a:solidFill>
                  <a:srgbClr val="233046"/>
                </a:solidFill>
                <a:latin typeface="Aptos"/>
              </a:defRPr>
            </a:pPr>
            <a:r>
              <a:t>A sparse numeric representation for the classifier.</a:t>
            </a:r>
          </a:p>
        </p:txBody>
      </p:sp>
      <p:cxnSp>
        <p:nvCxnSpPr>
          <p:cNvPr id="18" name="Connector 17"/>
          <p:cNvCxnSpPr/>
          <p:nvPr/>
        </p:nvCxnSpPr>
        <p:spPr>
          <a:xfrm>
            <a:off x="4023360" y="2267712"/>
            <a:ext cx="411480" cy="0"/>
          </a:xfrm>
          <a:prstGeom prst="line">
            <a:avLst/>
          </a:prstGeom>
          <a:ln w="25400">
            <a:solidFill>
              <a:srgbClr val="1CA6A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7772400" y="2267712"/>
            <a:ext cx="411479" cy="0"/>
          </a:xfrm>
          <a:prstGeom prst="line">
            <a:avLst/>
          </a:prstGeom>
          <a:ln w="25400">
            <a:solidFill>
              <a:srgbClr val="1CA6A0"/>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77240" y="3520440"/>
            <a:ext cx="3931920" cy="347472"/>
          </a:xfrm>
          <a:prstGeom prst="rect">
            <a:avLst/>
          </a:prstGeom>
          <a:noFill/>
        </p:spPr>
        <p:txBody>
          <a:bodyPr wrap="none" lIns="36576" rIns="36576" tIns="36576" bIns="36576" anchor="t">
            <a:spAutoFit/>
          </a:bodyPr>
          <a:lstStyle/>
          <a:p>
            <a:pPr algn="l">
              <a:spcAft>
                <a:spcPts val="700"/>
              </a:spcAft>
              <a:defRPr sz="1500" b="1">
                <a:solidFill>
                  <a:srgbClr val="12203A"/>
                </a:solidFill>
                <a:latin typeface="Aptos"/>
              </a:defRPr>
            </a:pPr>
            <a:r>
              <a:t>CONFIGURATION FROM THE PROJECT</a:t>
            </a:r>
          </a:p>
        </p:txBody>
      </p:sp>
      <p:graphicFrame>
        <p:nvGraphicFramePr>
          <p:cNvPr id="21" name="Table 20"/>
          <p:cNvGraphicFramePr>
            <a:graphicFrameLocks noGrp="1"/>
          </p:cNvGraphicFramePr>
          <p:nvPr/>
        </p:nvGraphicFramePr>
        <p:xfrm>
          <a:off x="777240" y="3977639"/>
          <a:ext cx="6492240" cy="1645920"/>
        </p:xfrm>
        <a:graphic>
          <a:graphicData uri="http://schemas.openxmlformats.org/drawingml/2006/table">
            <a:tbl>
              <a:tblPr firstRow="1" bandRow="1">
                <a:tableStyleId>{5C22544A-7EE6-4342-B048-85BDC9FD1C3A}</a:tableStyleId>
              </a:tblPr>
              <a:tblGrid>
                <a:gridCol w="1645920"/>
                <a:gridCol w="1417320"/>
                <a:gridCol w="3429000"/>
              </a:tblGrid>
              <a:tr h="329184">
                <a:tc>
                  <a:txBody>
                    <a:bodyPr/>
                    <a:lstStyle/>
                    <a:p>
                      <a:pPr algn="l">
                        <a:defRPr sz="1000" b="1">
                          <a:solidFill>
                            <a:srgbClr val="FFFFFF"/>
                          </a:solidFill>
                          <a:latin typeface="Aptos"/>
                        </a:defRPr>
                      </a:pPr>
                      <a:r>
                        <a:t>Parameter</a:t>
                      </a:r>
                    </a:p>
                  </a:txBody>
                  <a:tcPr marL="73152" marR="54864" marT="36576" marB="36576" anchor="ctr">
                    <a:solidFill>
                      <a:srgbClr val="12203A"/>
                    </a:solidFill>
                  </a:tcPr>
                </a:tc>
                <a:tc>
                  <a:txBody>
                    <a:bodyPr/>
                    <a:lstStyle/>
                    <a:p>
                      <a:pPr algn="ctr">
                        <a:defRPr sz="1000" b="1">
                          <a:solidFill>
                            <a:srgbClr val="FFFFFF"/>
                          </a:solidFill>
                          <a:latin typeface="Aptos"/>
                        </a:defRPr>
                      </a:pPr>
                      <a:r>
                        <a:t>Setting</a:t>
                      </a:r>
                    </a:p>
                  </a:txBody>
                  <a:tcPr marL="73152" marR="54864" marT="36576" marB="36576" anchor="ctr">
                    <a:solidFill>
                      <a:srgbClr val="12203A"/>
                    </a:solidFill>
                  </a:tcPr>
                </a:tc>
                <a:tc>
                  <a:txBody>
                    <a:bodyPr/>
                    <a:lstStyle/>
                    <a:p>
                      <a:pPr algn="ctr">
                        <a:defRPr sz="1000" b="1">
                          <a:solidFill>
                            <a:srgbClr val="FFFFFF"/>
                          </a:solidFill>
                          <a:latin typeface="Aptos"/>
                        </a:defRPr>
                      </a:pPr>
                      <a:r>
                        <a:t>Purpose</a:t>
                      </a:r>
                    </a:p>
                  </a:txBody>
                  <a:tcPr marL="73152" marR="54864" marT="36576" marB="36576" anchor="ctr">
                    <a:solidFill>
                      <a:srgbClr val="12203A"/>
                    </a:solidFill>
                  </a:tcPr>
                </a:tc>
              </a:tr>
              <a:tr h="329184">
                <a:tc>
                  <a:txBody>
                    <a:bodyPr/>
                    <a:lstStyle/>
                    <a:p>
                      <a:pPr algn="l">
                        <a:defRPr sz="1000" b="0">
                          <a:solidFill>
                            <a:srgbClr val="233046"/>
                          </a:solidFill>
                          <a:latin typeface="Aptos"/>
                        </a:defRPr>
                      </a:pPr>
                      <a:r>
                        <a:t>max_features</a:t>
                      </a:r>
                    </a:p>
                  </a:txBody>
                  <a:tcPr marL="73152" marR="54864" marT="36576" marB="36576" anchor="ctr">
                    <a:solidFill>
                      <a:srgbClr val="FFFFFF"/>
                    </a:solidFill>
                  </a:tcPr>
                </a:tc>
                <a:tc>
                  <a:txBody>
                    <a:bodyPr/>
                    <a:lstStyle/>
                    <a:p>
                      <a:pPr algn="ctr">
                        <a:defRPr sz="1000" b="0">
                          <a:solidFill>
                            <a:srgbClr val="233046"/>
                          </a:solidFill>
                          <a:latin typeface="Aptos"/>
                        </a:defRPr>
                      </a:pPr>
                      <a:r>
                        <a:t>10,000</a:t>
                      </a:r>
                    </a:p>
                  </a:txBody>
                  <a:tcPr marL="73152" marR="54864" marT="36576" marB="36576" anchor="ctr">
                    <a:solidFill>
                      <a:srgbClr val="FFFFFF"/>
                    </a:solidFill>
                  </a:tcPr>
                </a:tc>
                <a:tc>
                  <a:txBody>
                    <a:bodyPr/>
                    <a:lstStyle/>
                    <a:p>
                      <a:pPr algn="ctr">
                        <a:defRPr sz="1000" b="0">
                          <a:solidFill>
                            <a:srgbClr val="233046"/>
                          </a:solidFill>
                          <a:latin typeface="Aptos"/>
                        </a:defRPr>
                      </a:pPr>
                      <a:r>
                        <a:t>Limit vocabulary size</a:t>
                      </a:r>
                    </a:p>
                  </a:txBody>
                  <a:tcPr marL="73152" marR="54864" marT="36576" marB="36576" anchor="ctr">
                    <a:solidFill>
                      <a:srgbClr val="FFFFFF"/>
                    </a:solidFill>
                  </a:tcPr>
                </a:tc>
              </a:tr>
              <a:tr h="329184">
                <a:tc>
                  <a:txBody>
                    <a:bodyPr/>
                    <a:lstStyle/>
                    <a:p>
                      <a:pPr algn="l">
                        <a:defRPr sz="1000" b="0">
                          <a:solidFill>
                            <a:srgbClr val="233046"/>
                          </a:solidFill>
                          <a:latin typeface="Aptos"/>
                        </a:defRPr>
                      </a:pPr>
                      <a:r>
                        <a:t>ngram_range</a:t>
                      </a:r>
                    </a:p>
                  </a:txBody>
                  <a:tcPr marL="73152" marR="54864" marT="36576" marB="36576" anchor="ctr">
                    <a:solidFill>
                      <a:srgbClr val="EFF5F9"/>
                    </a:solidFill>
                  </a:tcPr>
                </a:tc>
                <a:tc>
                  <a:txBody>
                    <a:bodyPr/>
                    <a:lstStyle/>
                    <a:p>
                      <a:pPr algn="ctr">
                        <a:defRPr sz="1000" b="0">
                          <a:solidFill>
                            <a:srgbClr val="233046"/>
                          </a:solidFill>
                          <a:latin typeface="Aptos"/>
                        </a:defRPr>
                      </a:pPr>
                      <a:r>
                        <a:t>(1, 2)</a:t>
                      </a:r>
                    </a:p>
                  </a:txBody>
                  <a:tcPr marL="73152" marR="54864" marT="36576" marB="36576" anchor="ctr">
                    <a:solidFill>
                      <a:srgbClr val="EFF5F9"/>
                    </a:solidFill>
                  </a:tcPr>
                </a:tc>
                <a:tc>
                  <a:txBody>
                    <a:bodyPr/>
                    <a:lstStyle/>
                    <a:p>
                      <a:pPr algn="ctr">
                        <a:defRPr sz="1000" b="0">
                          <a:solidFill>
                            <a:srgbClr val="233046"/>
                          </a:solidFill>
                          <a:latin typeface="Aptos"/>
                        </a:defRPr>
                      </a:pPr>
                      <a:r>
                        <a:t>Use words and two-word phrases</a:t>
                      </a:r>
                    </a:p>
                  </a:txBody>
                  <a:tcPr marL="73152" marR="54864" marT="36576" marB="36576" anchor="ctr">
                    <a:solidFill>
                      <a:srgbClr val="EFF5F9"/>
                    </a:solidFill>
                  </a:tcPr>
                </a:tc>
              </a:tr>
              <a:tr h="329184">
                <a:tc>
                  <a:txBody>
                    <a:bodyPr/>
                    <a:lstStyle/>
                    <a:p>
                      <a:pPr algn="l">
                        <a:defRPr sz="1000" b="0">
                          <a:solidFill>
                            <a:srgbClr val="233046"/>
                          </a:solidFill>
                          <a:latin typeface="Aptos"/>
                        </a:defRPr>
                      </a:pPr>
                      <a:r>
                        <a:t>min_df / max_df</a:t>
                      </a:r>
                    </a:p>
                  </a:txBody>
                  <a:tcPr marL="73152" marR="54864" marT="36576" marB="36576" anchor="ctr">
                    <a:solidFill>
                      <a:srgbClr val="FFFFFF"/>
                    </a:solidFill>
                  </a:tcPr>
                </a:tc>
                <a:tc>
                  <a:txBody>
                    <a:bodyPr/>
                    <a:lstStyle/>
                    <a:p>
                      <a:pPr algn="ctr">
                        <a:defRPr sz="1000" b="0">
                          <a:solidFill>
                            <a:srgbClr val="233046"/>
                          </a:solidFill>
                          <a:latin typeface="Aptos"/>
                        </a:defRPr>
                      </a:pPr>
                      <a:r>
                        <a:t>2 / 0.95</a:t>
                      </a:r>
                    </a:p>
                  </a:txBody>
                  <a:tcPr marL="73152" marR="54864" marT="36576" marB="36576" anchor="ctr">
                    <a:solidFill>
                      <a:srgbClr val="FFFFFF"/>
                    </a:solidFill>
                  </a:tcPr>
                </a:tc>
                <a:tc>
                  <a:txBody>
                    <a:bodyPr/>
                    <a:lstStyle/>
                    <a:p>
                      <a:pPr algn="ctr">
                        <a:defRPr sz="1000" b="0">
                          <a:solidFill>
                            <a:srgbClr val="233046"/>
                          </a:solidFill>
                          <a:latin typeface="Aptos"/>
                        </a:defRPr>
                      </a:pPr>
                      <a:r>
                        <a:t>Filter very rare and very common terms</a:t>
                      </a:r>
                    </a:p>
                  </a:txBody>
                  <a:tcPr marL="73152" marR="54864" marT="36576" marB="36576" anchor="ctr">
                    <a:solidFill>
                      <a:srgbClr val="FFFFFF"/>
                    </a:solidFill>
                  </a:tcPr>
                </a:tc>
              </a:tr>
              <a:tr h="329184">
                <a:tc>
                  <a:txBody>
                    <a:bodyPr/>
                    <a:lstStyle/>
                    <a:p>
                      <a:pPr algn="l">
                        <a:defRPr sz="1000" b="0">
                          <a:solidFill>
                            <a:srgbClr val="233046"/>
                          </a:solidFill>
                          <a:latin typeface="Aptos"/>
                        </a:defRPr>
                      </a:pPr>
                      <a:r>
                        <a:t>sublinear_tf</a:t>
                      </a:r>
                    </a:p>
                  </a:txBody>
                  <a:tcPr marL="73152" marR="54864" marT="36576" marB="36576" anchor="ctr">
                    <a:solidFill>
                      <a:srgbClr val="EFF5F9"/>
                    </a:solidFill>
                  </a:tcPr>
                </a:tc>
                <a:tc>
                  <a:txBody>
                    <a:bodyPr/>
                    <a:lstStyle/>
                    <a:p>
                      <a:pPr algn="ctr">
                        <a:defRPr sz="1000" b="0">
                          <a:solidFill>
                            <a:srgbClr val="233046"/>
                          </a:solidFill>
                          <a:latin typeface="Aptos"/>
                        </a:defRPr>
                      </a:pPr>
                      <a:r>
                        <a:t>True</a:t>
                      </a:r>
                    </a:p>
                  </a:txBody>
                  <a:tcPr marL="73152" marR="54864" marT="36576" marB="36576" anchor="ctr">
                    <a:solidFill>
                      <a:srgbClr val="EFF5F9"/>
                    </a:solidFill>
                  </a:tcPr>
                </a:tc>
                <a:tc>
                  <a:txBody>
                    <a:bodyPr/>
                    <a:lstStyle/>
                    <a:p>
                      <a:pPr algn="ctr">
                        <a:defRPr sz="1000" b="0">
                          <a:solidFill>
                            <a:srgbClr val="233046"/>
                          </a:solidFill>
                          <a:latin typeface="Aptos"/>
                        </a:defRPr>
                      </a:pPr>
                      <a:r>
                        <a:t>Apply sublinear term-frequency scaling</a:t>
                      </a:r>
                    </a:p>
                  </a:txBody>
                  <a:tcPr marL="73152" marR="54864" marT="36576" marB="36576" anchor="ctr">
                    <a:solidFill>
                      <a:srgbClr val="EFF5F9"/>
                    </a:solidFill>
                  </a:tcPr>
                </a:tc>
              </a:tr>
            </a:tbl>
          </a:graphicData>
        </a:graphic>
      </p:graphicFrame>
      <p:sp>
        <p:nvSpPr>
          <p:cNvPr id="22" name="TextBox 21"/>
          <p:cNvSpPr txBox="1"/>
          <p:nvPr/>
        </p:nvSpPr>
        <p:spPr>
          <a:xfrm>
            <a:off x="7726679" y="3977639"/>
            <a:ext cx="3383280" cy="1280160"/>
          </a:xfrm>
          <a:prstGeom prst="rect">
            <a:avLst/>
          </a:prstGeom>
          <a:noFill/>
        </p:spPr>
        <p:txBody>
          <a:bodyPr wrap="none" lIns="36576" rIns="36576" tIns="36576" bIns="36576" anchor="t">
            <a:spAutoFit/>
          </a:bodyPr>
          <a:lstStyle/>
          <a:p>
            <a:pPr algn="l">
              <a:spcAft>
                <a:spcPts val="700"/>
              </a:spcAft>
              <a:defRPr sz="1400" b="1">
                <a:solidFill>
                  <a:srgbClr val="233046"/>
                </a:solidFill>
                <a:latin typeface="Aptos"/>
              </a:defRPr>
            </a:pPr>
            <a:r>
              <a:t>Split: 80% train / 20% test</a:t>
            </a:r>
          </a:p>
          <a:p>
            <a:pPr algn="l">
              <a:spcAft>
                <a:spcPts val="700"/>
              </a:spcAft>
              <a:defRPr sz="1400" b="1">
                <a:solidFill>
                  <a:srgbClr val="233046"/>
                </a:solidFill>
                <a:latin typeface="Aptos"/>
              </a:defRPr>
            </a:pPr>
            <a:r>
              <a:t>Random state: 42</a:t>
            </a:r>
          </a:p>
          <a:p>
            <a:pPr algn="l">
              <a:spcAft>
                <a:spcPts val="700"/>
              </a:spcAft>
              <a:defRPr sz="1400" b="1">
                <a:solidFill>
                  <a:srgbClr val="233046"/>
                </a:solidFill>
                <a:latin typeface="Aptos"/>
              </a:defRPr>
            </a:pPr>
            <a:r>
              <a:t>Stratified by target label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10698480" cy="438912"/>
          </a:xfrm>
          <a:prstGeom prst="rect">
            <a:avLst/>
          </a:prstGeom>
          <a:noFill/>
        </p:spPr>
        <p:txBody>
          <a:bodyPr wrap="none" lIns="36576" rIns="36576" tIns="36576" bIns="36576" anchor="t">
            <a:spAutoFit/>
          </a:bodyPr>
          <a:lstStyle/>
          <a:p>
            <a:pPr algn="l">
              <a:spcAft>
                <a:spcPts val="700"/>
              </a:spcAft>
              <a:defRPr sz="2600" b="1">
                <a:solidFill>
                  <a:srgbClr val="12203A"/>
                </a:solidFill>
                <a:latin typeface="Aptos"/>
              </a:defRPr>
            </a:pPr>
            <a:r>
              <a:t>Models evaluated</a:t>
            </a:r>
          </a:p>
        </p:txBody>
      </p:sp>
      <p:sp>
        <p:nvSpPr>
          <p:cNvPr id="3" name="TextBox 2"/>
          <p:cNvSpPr txBox="1"/>
          <p:nvPr/>
        </p:nvSpPr>
        <p:spPr>
          <a:xfrm>
            <a:off x="594360" y="758952"/>
            <a:ext cx="10789920" cy="274320"/>
          </a:xfrm>
          <a:prstGeom prst="rect">
            <a:avLst/>
          </a:prstGeom>
          <a:noFill/>
        </p:spPr>
        <p:txBody>
          <a:bodyPr wrap="none" lIns="36576" rIns="36576" tIns="36576" bIns="36576" anchor="t">
            <a:spAutoFit/>
          </a:bodyPr>
          <a:lstStyle/>
          <a:p>
            <a:pPr algn="l">
              <a:spcAft>
                <a:spcPts val="700"/>
              </a:spcAft>
              <a:defRPr sz="1000" b="0">
                <a:solidFill>
                  <a:srgbClr val="637387"/>
                </a:solidFill>
                <a:latin typeface="Aptos"/>
              </a:defRPr>
            </a:pPr>
            <a:r>
              <a:t>Three candidate classifiers are trained with the same TF-IDF features</a:t>
            </a:r>
          </a:p>
        </p:txBody>
      </p:sp>
      <p:sp>
        <p:nvSpPr>
          <p:cNvPr id="4" name="Rectangle 3"/>
          <p:cNvSpPr/>
          <p:nvPr/>
        </p:nvSpPr>
        <p:spPr>
          <a:xfrm>
            <a:off x="594360" y="1115568"/>
            <a:ext cx="658368" cy="50292"/>
          </a:xfrm>
          <a:prstGeom prst="rect">
            <a:avLst/>
          </a:prstGeom>
          <a:solidFill>
            <a:srgbClr val="1CA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92840" y="6473952"/>
            <a:ext cx="365760" cy="182880"/>
          </a:xfrm>
          <a:prstGeom prst="rect">
            <a:avLst/>
          </a:prstGeom>
          <a:noFill/>
        </p:spPr>
        <p:txBody>
          <a:bodyPr wrap="none" lIns="36576" rIns="36576" tIns="36576" bIns="36576" anchor="t">
            <a:spAutoFit/>
          </a:bodyPr>
          <a:lstStyle/>
          <a:p>
            <a:pPr algn="r">
              <a:spcAft>
                <a:spcPts val="700"/>
              </a:spcAft>
              <a:defRPr sz="900" b="1">
                <a:solidFill>
                  <a:srgbClr val="637387"/>
                </a:solidFill>
                <a:latin typeface="Aptos"/>
              </a:defRPr>
            </a:pPr>
            <a:r>
              <a:t>08</a:t>
            </a:r>
          </a:p>
        </p:txBody>
      </p:sp>
      <p:sp>
        <p:nvSpPr>
          <p:cNvPr id="6" name="Rounded Rectangle 5"/>
          <p:cNvSpPr/>
          <p:nvPr/>
        </p:nvSpPr>
        <p:spPr>
          <a:xfrm>
            <a:off x="731520" y="1645920"/>
            <a:ext cx="3429000" cy="2057400"/>
          </a:xfrm>
          <a:prstGeom prst="roundRect">
            <a:avLst/>
          </a:prstGeom>
          <a:solidFill>
            <a:srgbClr val="EFF5F9"/>
          </a:solidFill>
          <a:ln>
            <a:solidFill>
              <a:srgbClr val="DE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45920"/>
            <a:ext cx="73152" cy="2057400"/>
          </a:xfrm>
          <a:prstGeom prst="rect">
            <a:avLst/>
          </a:prstGeom>
          <a:solidFill>
            <a:srgbClr val="1CA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1792224"/>
            <a:ext cx="3081528" cy="320040"/>
          </a:xfrm>
          <a:prstGeom prst="rect">
            <a:avLst/>
          </a:prstGeom>
          <a:noFill/>
        </p:spPr>
        <p:txBody>
          <a:bodyPr wrap="none" lIns="36576" rIns="36576" tIns="36576" bIns="36576" anchor="t">
            <a:spAutoFit/>
          </a:bodyPr>
          <a:lstStyle/>
          <a:p>
            <a:pPr algn="l">
              <a:spcAft>
                <a:spcPts val="700"/>
              </a:spcAft>
              <a:defRPr sz="1700" b="1">
                <a:solidFill>
                  <a:srgbClr val="12203A"/>
                </a:solidFill>
                <a:latin typeface="Aptos"/>
              </a:defRPr>
            </a:pPr>
            <a:r>
              <a:t>Logistic Regression</a:t>
            </a:r>
          </a:p>
        </p:txBody>
      </p:sp>
      <p:sp>
        <p:nvSpPr>
          <p:cNvPr id="9" name="TextBox 8"/>
          <p:cNvSpPr txBox="1"/>
          <p:nvPr/>
        </p:nvSpPr>
        <p:spPr>
          <a:xfrm>
            <a:off x="932688" y="2185416"/>
            <a:ext cx="3063240" cy="1435607"/>
          </a:xfrm>
          <a:prstGeom prst="rect">
            <a:avLst/>
          </a:prstGeom>
          <a:noFill/>
        </p:spPr>
        <p:txBody>
          <a:bodyPr wrap="none" lIns="36576" rIns="36576" tIns="36576" bIns="36576" anchor="t">
            <a:spAutoFit/>
          </a:bodyPr>
          <a:lstStyle/>
          <a:p>
            <a:pPr algn="l">
              <a:spcAft>
                <a:spcPts val="700"/>
              </a:spcAft>
              <a:defRPr sz="1400" b="0">
                <a:solidFill>
                  <a:srgbClr val="233046"/>
                </a:solidFill>
                <a:latin typeface="Aptos"/>
              </a:defRPr>
            </a:pPr>
            <a:r>
              <a:t>Linear classifier that works well with sparse text features. max_iter = 1,000.</a:t>
            </a:r>
          </a:p>
        </p:txBody>
      </p:sp>
      <p:sp>
        <p:nvSpPr>
          <p:cNvPr id="10" name="Rounded Rectangle 9"/>
          <p:cNvSpPr/>
          <p:nvPr/>
        </p:nvSpPr>
        <p:spPr>
          <a:xfrm>
            <a:off x="4389120" y="1645920"/>
            <a:ext cx="3429000" cy="2057400"/>
          </a:xfrm>
          <a:prstGeom prst="roundRect">
            <a:avLst/>
          </a:prstGeom>
          <a:solidFill>
            <a:srgbClr val="EFF5F9"/>
          </a:solidFill>
          <a:ln>
            <a:solidFill>
              <a:srgbClr val="DE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9120" y="1645920"/>
            <a:ext cx="73152" cy="2057400"/>
          </a:xfrm>
          <a:prstGeom prst="rect">
            <a:avLst/>
          </a:prstGeom>
          <a:solidFill>
            <a:srgbClr val="5DC4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0288" y="1792224"/>
            <a:ext cx="3081528" cy="320040"/>
          </a:xfrm>
          <a:prstGeom prst="rect">
            <a:avLst/>
          </a:prstGeom>
          <a:noFill/>
        </p:spPr>
        <p:txBody>
          <a:bodyPr wrap="none" lIns="36576" rIns="36576" tIns="36576" bIns="36576" anchor="t">
            <a:spAutoFit/>
          </a:bodyPr>
          <a:lstStyle/>
          <a:p>
            <a:pPr algn="l">
              <a:spcAft>
                <a:spcPts val="700"/>
              </a:spcAft>
              <a:defRPr sz="1700" b="1">
                <a:solidFill>
                  <a:srgbClr val="12203A"/>
                </a:solidFill>
                <a:latin typeface="Aptos"/>
              </a:defRPr>
            </a:pPr>
            <a:r>
              <a:t>Decision Tree</a:t>
            </a:r>
          </a:p>
        </p:txBody>
      </p:sp>
      <p:sp>
        <p:nvSpPr>
          <p:cNvPr id="13" name="TextBox 12"/>
          <p:cNvSpPr txBox="1"/>
          <p:nvPr/>
        </p:nvSpPr>
        <p:spPr>
          <a:xfrm>
            <a:off x="4590288" y="2185416"/>
            <a:ext cx="3063240" cy="1435607"/>
          </a:xfrm>
          <a:prstGeom prst="rect">
            <a:avLst/>
          </a:prstGeom>
          <a:noFill/>
        </p:spPr>
        <p:txBody>
          <a:bodyPr wrap="none" lIns="36576" rIns="36576" tIns="36576" bIns="36576" anchor="t">
            <a:spAutoFit/>
          </a:bodyPr>
          <a:lstStyle/>
          <a:p>
            <a:pPr algn="l">
              <a:spcAft>
                <a:spcPts val="700"/>
              </a:spcAft>
              <a:defRPr sz="1400" b="0">
                <a:solidFill>
                  <a:srgbClr val="233046"/>
                </a:solidFill>
                <a:latin typeface="Aptos"/>
              </a:defRPr>
            </a:pPr>
            <a:r>
              <a:t>Tree-based classifier with max_depth = 30.</a:t>
            </a:r>
          </a:p>
        </p:txBody>
      </p:sp>
      <p:sp>
        <p:nvSpPr>
          <p:cNvPr id="14" name="Rounded Rectangle 13"/>
          <p:cNvSpPr/>
          <p:nvPr/>
        </p:nvSpPr>
        <p:spPr>
          <a:xfrm>
            <a:off x="8046720" y="1645920"/>
            <a:ext cx="3429000" cy="2057400"/>
          </a:xfrm>
          <a:prstGeom prst="roundRect">
            <a:avLst/>
          </a:prstGeom>
          <a:solidFill>
            <a:srgbClr val="EFF5F9"/>
          </a:solidFill>
          <a:ln>
            <a:solidFill>
              <a:srgbClr val="DE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46720" y="1645920"/>
            <a:ext cx="73152" cy="2057400"/>
          </a:xfrm>
          <a:prstGeom prst="rect">
            <a:avLst/>
          </a:prstGeom>
          <a:solidFill>
            <a:srgbClr val="EB99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47888" y="1792224"/>
            <a:ext cx="3081528" cy="320040"/>
          </a:xfrm>
          <a:prstGeom prst="rect">
            <a:avLst/>
          </a:prstGeom>
          <a:noFill/>
        </p:spPr>
        <p:txBody>
          <a:bodyPr wrap="none" lIns="36576" rIns="36576" tIns="36576" bIns="36576" anchor="t">
            <a:spAutoFit/>
          </a:bodyPr>
          <a:lstStyle/>
          <a:p>
            <a:pPr algn="l">
              <a:spcAft>
                <a:spcPts val="700"/>
              </a:spcAft>
              <a:defRPr sz="1700" b="1">
                <a:solidFill>
                  <a:srgbClr val="12203A"/>
                </a:solidFill>
                <a:latin typeface="Aptos"/>
              </a:defRPr>
            </a:pPr>
            <a:r>
              <a:t>Random Forest</a:t>
            </a:r>
          </a:p>
        </p:txBody>
      </p:sp>
      <p:sp>
        <p:nvSpPr>
          <p:cNvPr id="17" name="TextBox 16"/>
          <p:cNvSpPr txBox="1"/>
          <p:nvPr/>
        </p:nvSpPr>
        <p:spPr>
          <a:xfrm>
            <a:off x="8247888" y="2185416"/>
            <a:ext cx="3063240" cy="1435607"/>
          </a:xfrm>
          <a:prstGeom prst="rect">
            <a:avLst/>
          </a:prstGeom>
          <a:noFill/>
        </p:spPr>
        <p:txBody>
          <a:bodyPr wrap="none" lIns="36576" rIns="36576" tIns="36576" bIns="36576" anchor="t">
            <a:spAutoFit/>
          </a:bodyPr>
          <a:lstStyle/>
          <a:p>
            <a:pPr algn="l">
              <a:spcAft>
                <a:spcPts val="700"/>
              </a:spcAft>
              <a:defRPr sz="1400" b="0">
                <a:solidFill>
                  <a:srgbClr val="233046"/>
                </a:solidFill>
                <a:latin typeface="Aptos"/>
              </a:defRPr>
            </a:pPr>
            <a:r>
              <a:t>Ensemble of 200 trees; max_depth = 30; parallel fitting enabled.</a:t>
            </a:r>
          </a:p>
        </p:txBody>
      </p:sp>
      <p:sp>
        <p:nvSpPr>
          <p:cNvPr id="18" name="TextBox 17"/>
          <p:cNvSpPr txBox="1"/>
          <p:nvPr/>
        </p:nvSpPr>
        <p:spPr>
          <a:xfrm>
            <a:off x="822960" y="4251960"/>
            <a:ext cx="10424160" cy="365760"/>
          </a:xfrm>
          <a:prstGeom prst="rect">
            <a:avLst/>
          </a:prstGeom>
          <a:noFill/>
        </p:spPr>
        <p:txBody>
          <a:bodyPr wrap="none" lIns="36576" rIns="36576" tIns="36576" bIns="36576" anchor="t">
            <a:spAutoFit/>
          </a:bodyPr>
          <a:lstStyle/>
          <a:p>
            <a:pPr algn="l">
              <a:spcAft>
                <a:spcPts val="700"/>
              </a:spcAft>
              <a:defRPr sz="1500" b="1">
                <a:solidFill>
                  <a:srgbClr val="12203A"/>
                </a:solidFill>
                <a:latin typeface="Aptos"/>
              </a:defRPr>
            </a:pPr>
            <a:r>
              <a:t>MODEL SELECTION RULE</a:t>
            </a:r>
          </a:p>
        </p:txBody>
      </p:sp>
      <p:sp>
        <p:nvSpPr>
          <p:cNvPr id="19" name="TextBox 18"/>
          <p:cNvSpPr txBox="1"/>
          <p:nvPr/>
        </p:nvSpPr>
        <p:spPr>
          <a:xfrm>
            <a:off x="822960" y="4709160"/>
            <a:ext cx="10241280" cy="685800"/>
          </a:xfrm>
          <a:prstGeom prst="rect">
            <a:avLst/>
          </a:prstGeom>
          <a:noFill/>
        </p:spPr>
        <p:txBody>
          <a:bodyPr wrap="none" lIns="36576" rIns="36576" tIns="36576" bIns="36576" anchor="t">
            <a:spAutoFit/>
          </a:bodyPr>
          <a:lstStyle/>
          <a:p>
            <a:pPr algn="l">
              <a:spcAft>
                <a:spcPts val="700"/>
              </a:spcAft>
              <a:defRPr sz="1600" b="0">
                <a:solidFill>
                  <a:srgbClr val="233046"/>
                </a:solidFill>
                <a:latin typeface="Aptos"/>
              </a:defRPr>
            </a:pPr>
            <a:r>
              <a:t>The code selects the classifier with the highest F1 score. This balances precision and recall and is useful when both missed disaster tweets and false alarms matter.</a:t>
            </a:r>
          </a:p>
        </p:txBody>
      </p:sp>
      <p:sp>
        <p:nvSpPr>
          <p:cNvPr id="20" name="Rounded Rectangle 19"/>
          <p:cNvSpPr/>
          <p:nvPr/>
        </p:nvSpPr>
        <p:spPr>
          <a:xfrm>
            <a:off x="822960" y="5623560"/>
            <a:ext cx="2331720" cy="310896"/>
          </a:xfrm>
          <a:prstGeom prst="roundRect">
            <a:avLst/>
          </a:prstGeom>
          <a:solidFill>
            <a:srgbClr val="1CA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 y="5641848"/>
            <a:ext cx="2258568" cy="237744"/>
          </a:xfrm>
          <a:prstGeom prst="rect">
            <a:avLst/>
          </a:prstGeom>
          <a:noFill/>
        </p:spPr>
        <p:txBody>
          <a:bodyPr wrap="none" lIns="36576" rIns="36576" tIns="36576" bIns="36576" anchor="ctr">
            <a:spAutoFit/>
          </a:bodyPr>
          <a:lstStyle/>
          <a:p>
            <a:pPr algn="ctr">
              <a:spcAft>
                <a:spcPts val="700"/>
              </a:spcAft>
              <a:defRPr sz="1000" b="1">
                <a:solidFill>
                  <a:srgbClr val="FFFFFF"/>
                </a:solidFill>
                <a:latin typeface="Aptos"/>
              </a:defRPr>
            </a:pPr>
            <a:r>
              <a:t>SELECTED: LOGISTIC REGRESSION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10698480" cy="438912"/>
          </a:xfrm>
          <a:prstGeom prst="rect">
            <a:avLst/>
          </a:prstGeom>
          <a:noFill/>
        </p:spPr>
        <p:txBody>
          <a:bodyPr wrap="none" lIns="36576" rIns="36576" tIns="36576" bIns="36576" anchor="t">
            <a:spAutoFit/>
          </a:bodyPr>
          <a:lstStyle/>
          <a:p>
            <a:pPr algn="l">
              <a:spcAft>
                <a:spcPts val="700"/>
              </a:spcAft>
              <a:defRPr sz="2600" b="1">
                <a:solidFill>
                  <a:srgbClr val="12203A"/>
                </a:solidFill>
                <a:latin typeface="Aptos"/>
              </a:defRPr>
            </a:pPr>
            <a:r>
              <a:t>Model performance comparison</a:t>
            </a:r>
          </a:p>
        </p:txBody>
      </p:sp>
      <p:sp>
        <p:nvSpPr>
          <p:cNvPr id="3" name="TextBox 2"/>
          <p:cNvSpPr txBox="1"/>
          <p:nvPr/>
        </p:nvSpPr>
        <p:spPr>
          <a:xfrm>
            <a:off x="594360" y="758952"/>
            <a:ext cx="10789920" cy="274320"/>
          </a:xfrm>
          <a:prstGeom prst="rect">
            <a:avLst/>
          </a:prstGeom>
          <a:noFill/>
        </p:spPr>
        <p:txBody>
          <a:bodyPr wrap="none" lIns="36576" rIns="36576" tIns="36576" bIns="36576" anchor="t">
            <a:spAutoFit/>
          </a:bodyPr>
          <a:lstStyle/>
          <a:p>
            <a:pPr algn="l">
              <a:spcAft>
                <a:spcPts val="700"/>
              </a:spcAft>
              <a:defRPr sz="1000" b="0">
                <a:solidFill>
                  <a:srgbClr val="637387"/>
                </a:solidFill>
                <a:latin typeface="Aptos"/>
              </a:defRPr>
            </a:pPr>
            <a:r>
              <a:t>Measured on the stratified 20% test split; values rounded to 3 decimals</a:t>
            </a:r>
          </a:p>
        </p:txBody>
      </p:sp>
      <p:sp>
        <p:nvSpPr>
          <p:cNvPr id="4" name="Rectangle 3"/>
          <p:cNvSpPr/>
          <p:nvPr/>
        </p:nvSpPr>
        <p:spPr>
          <a:xfrm>
            <a:off x="594360" y="1115568"/>
            <a:ext cx="658368" cy="50292"/>
          </a:xfrm>
          <a:prstGeom prst="rect">
            <a:avLst/>
          </a:prstGeom>
          <a:solidFill>
            <a:srgbClr val="1CA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92840" y="6473952"/>
            <a:ext cx="365760" cy="182880"/>
          </a:xfrm>
          <a:prstGeom prst="rect">
            <a:avLst/>
          </a:prstGeom>
          <a:noFill/>
        </p:spPr>
        <p:txBody>
          <a:bodyPr wrap="none" lIns="36576" rIns="36576" tIns="36576" bIns="36576" anchor="t">
            <a:spAutoFit/>
          </a:bodyPr>
          <a:lstStyle/>
          <a:p>
            <a:pPr algn="r">
              <a:spcAft>
                <a:spcPts val="700"/>
              </a:spcAft>
              <a:defRPr sz="900" b="1">
                <a:solidFill>
                  <a:srgbClr val="637387"/>
                </a:solidFill>
                <a:latin typeface="Aptos"/>
              </a:defRPr>
            </a:pPr>
            <a:r>
              <a:t>09</a:t>
            </a:r>
          </a:p>
        </p:txBody>
      </p:sp>
      <p:graphicFrame>
        <p:nvGraphicFramePr>
          <p:cNvPr id="6" name="Table 5"/>
          <p:cNvGraphicFramePr>
            <a:graphicFrameLocks noGrp="1"/>
          </p:cNvGraphicFramePr>
          <p:nvPr/>
        </p:nvGraphicFramePr>
        <p:xfrm>
          <a:off x="685800" y="1554480"/>
          <a:ext cx="10835640" cy="1691640"/>
        </p:xfrm>
        <a:graphic>
          <a:graphicData uri="http://schemas.openxmlformats.org/drawingml/2006/table">
            <a:tbl>
              <a:tblPr firstRow="1" bandRow="1">
                <a:tableStyleId>{5C22544A-7EE6-4342-B048-85BDC9FD1C3A}</a:tableStyleId>
              </a:tblPr>
              <a:tblGrid>
                <a:gridCol w="3017520"/>
                <a:gridCol w="1508760"/>
                <a:gridCol w="1508760"/>
                <a:gridCol w="1508760"/>
                <a:gridCol w="1508760"/>
                <a:gridCol w="1783080"/>
              </a:tblGrid>
              <a:tr h="422910">
                <a:tc>
                  <a:txBody>
                    <a:bodyPr/>
                    <a:lstStyle/>
                    <a:p>
                      <a:pPr algn="l">
                        <a:defRPr sz="1200" b="1">
                          <a:solidFill>
                            <a:srgbClr val="FFFFFF"/>
                          </a:solidFill>
                          <a:latin typeface="Aptos"/>
                        </a:defRPr>
                      </a:pPr>
                      <a:r>
                        <a:t>Model</a:t>
                      </a:r>
                    </a:p>
                  </a:txBody>
                  <a:tcPr marL="73152" marR="54864" marT="36576" marB="36576" anchor="ctr">
                    <a:solidFill>
                      <a:srgbClr val="12203A"/>
                    </a:solidFill>
                  </a:tcPr>
                </a:tc>
                <a:tc>
                  <a:txBody>
                    <a:bodyPr/>
                    <a:lstStyle/>
                    <a:p>
                      <a:pPr algn="ctr">
                        <a:defRPr sz="1200" b="1">
                          <a:solidFill>
                            <a:srgbClr val="FFFFFF"/>
                          </a:solidFill>
                          <a:latin typeface="Aptos"/>
                        </a:defRPr>
                      </a:pPr>
                      <a:r>
                        <a:t>Accuracy</a:t>
                      </a:r>
                    </a:p>
                  </a:txBody>
                  <a:tcPr marL="73152" marR="54864" marT="36576" marB="36576" anchor="ctr">
                    <a:solidFill>
                      <a:srgbClr val="12203A"/>
                    </a:solidFill>
                  </a:tcPr>
                </a:tc>
                <a:tc>
                  <a:txBody>
                    <a:bodyPr/>
                    <a:lstStyle/>
                    <a:p>
                      <a:pPr algn="ctr">
                        <a:defRPr sz="1200" b="1">
                          <a:solidFill>
                            <a:srgbClr val="FFFFFF"/>
                          </a:solidFill>
                          <a:latin typeface="Aptos"/>
                        </a:defRPr>
                      </a:pPr>
                      <a:r>
                        <a:t>Precision</a:t>
                      </a:r>
                    </a:p>
                  </a:txBody>
                  <a:tcPr marL="73152" marR="54864" marT="36576" marB="36576" anchor="ctr">
                    <a:solidFill>
                      <a:srgbClr val="12203A"/>
                    </a:solidFill>
                  </a:tcPr>
                </a:tc>
                <a:tc>
                  <a:txBody>
                    <a:bodyPr/>
                    <a:lstStyle/>
                    <a:p>
                      <a:pPr algn="ctr">
                        <a:defRPr sz="1200" b="1">
                          <a:solidFill>
                            <a:srgbClr val="FFFFFF"/>
                          </a:solidFill>
                          <a:latin typeface="Aptos"/>
                        </a:defRPr>
                      </a:pPr>
                      <a:r>
                        <a:t>Recall</a:t>
                      </a:r>
                    </a:p>
                  </a:txBody>
                  <a:tcPr marL="73152" marR="54864" marT="36576" marB="36576" anchor="ctr">
                    <a:solidFill>
                      <a:srgbClr val="12203A"/>
                    </a:solidFill>
                  </a:tcPr>
                </a:tc>
                <a:tc>
                  <a:txBody>
                    <a:bodyPr/>
                    <a:lstStyle/>
                    <a:p>
                      <a:pPr algn="ctr">
                        <a:defRPr sz="1200" b="1">
                          <a:solidFill>
                            <a:srgbClr val="FFFFFF"/>
                          </a:solidFill>
                          <a:latin typeface="Aptos"/>
                        </a:defRPr>
                      </a:pPr>
                      <a:r>
                        <a:t>F1 Score</a:t>
                      </a:r>
                    </a:p>
                  </a:txBody>
                  <a:tcPr marL="73152" marR="54864" marT="36576" marB="36576" anchor="ctr">
                    <a:solidFill>
                      <a:srgbClr val="12203A"/>
                    </a:solidFill>
                  </a:tcPr>
                </a:tc>
                <a:tc>
                  <a:txBody>
                    <a:bodyPr/>
                    <a:lstStyle/>
                    <a:p>
                      <a:pPr algn="ctr">
                        <a:defRPr sz="1200" b="1">
                          <a:solidFill>
                            <a:srgbClr val="FFFFFF"/>
                          </a:solidFill>
                          <a:latin typeface="Aptos"/>
                        </a:defRPr>
                      </a:pPr>
                      <a:r>
                        <a:t>ROC-AUC</a:t>
                      </a:r>
                    </a:p>
                  </a:txBody>
                  <a:tcPr marL="73152" marR="54864" marT="36576" marB="36576" anchor="ctr">
                    <a:solidFill>
                      <a:srgbClr val="12203A"/>
                    </a:solidFill>
                  </a:tcPr>
                </a:tc>
              </a:tr>
              <a:tr h="422910">
                <a:tc>
                  <a:txBody>
                    <a:bodyPr/>
                    <a:lstStyle/>
                    <a:p>
                      <a:pPr algn="l">
                        <a:defRPr sz="1200" b="0">
                          <a:solidFill>
                            <a:srgbClr val="233046"/>
                          </a:solidFill>
                          <a:latin typeface="Aptos"/>
                        </a:defRPr>
                      </a:pPr>
                      <a:r>
                        <a:t>Logistic Regression</a:t>
                      </a:r>
                    </a:p>
                  </a:txBody>
                  <a:tcPr marL="73152" marR="54864" marT="36576" marB="36576" anchor="ctr">
                    <a:solidFill>
                      <a:srgbClr val="FFFFFF"/>
                    </a:solidFill>
                  </a:tcPr>
                </a:tc>
                <a:tc>
                  <a:txBody>
                    <a:bodyPr/>
                    <a:lstStyle/>
                    <a:p>
                      <a:pPr algn="ctr">
                        <a:defRPr sz="1200" b="0">
                          <a:solidFill>
                            <a:srgbClr val="233046"/>
                          </a:solidFill>
                          <a:latin typeface="Aptos"/>
                        </a:defRPr>
                      </a:pPr>
                      <a:r>
                        <a:t>0.817</a:t>
                      </a:r>
                    </a:p>
                  </a:txBody>
                  <a:tcPr marL="73152" marR="54864" marT="36576" marB="36576" anchor="ctr">
                    <a:solidFill>
                      <a:srgbClr val="FFFFFF"/>
                    </a:solidFill>
                  </a:tcPr>
                </a:tc>
                <a:tc>
                  <a:txBody>
                    <a:bodyPr/>
                    <a:lstStyle/>
                    <a:p>
                      <a:pPr algn="ctr">
                        <a:defRPr sz="1200" b="0">
                          <a:solidFill>
                            <a:srgbClr val="233046"/>
                          </a:solidFill>
                          <a:latin typeface="Aptos"/>
                        </a:defRPr>
                      </a:pPr>
                      <a:r>
                        <a:t>0.840</a:t>
                      </a:r>
                    </a:p>
                  </a:txBody>
                  <a:tcPr marL="73152" marR="54864" marT="36576" marB="36576" anchor="ctr">
                    <a:solidFill>
                      <a:srgbClr val="FFFFFF"/>
                    </a:solidFill>
                  </a:tcPr>
                </a:tc>
                <a:tc>
                  <a:txBody>
                    <a:bodyPr/>
                    <a:lstStyle/>
                    <a:p>
                      <a:pPr algn="ctr">
                        <a:defRPr sz="1200" b="0">
                          <a:solidFill>
                            <a:srgbClr val="233046"/>
                          </a:solidFill>
                          <a:latin typeface="Aptos"/>
                        </a:defRPr>
                      </a:pPr>
                      <a:r>
                        <a:t>0.708</a:t>
                      </a:r>
                    </a:p>
                  </a:txBody>
                  <a:tcPr marL="73152" marR="54864" marT="36576" marB="36576" anchor="ctr">
                    <a:solidFill>
                      <a:srgbClr val="FFFFFF"/>
                    </a:solidFill>
                  </a:tcPr>
                </a:tc>
                <a:tc>
                  <a:txBody>
                    <a:bodyPr/>
                    <a:lstStyle/>
                    <a:p>
                      <a:pPr algn="ctr">
                        <a:defRPr sz="1200" b="0">
                          <a:solidFill>
                            <a:srgbClr val="233046"/>
                          </a:solidFill>
                          <a:latin typeface="Aptos"/>
                        </a:defRPr>
                      </a:pPr>
                      <a:r>
                        <a:t>0.768</a:t>
                      </a:r>
                    </a:p>
                  </a:txBody>
                  <a:tcPr marL="73152" marR="54864" marT="36576" marB="36576" anchor="ctr">
                    <a:solidFill>
                      <a:srgbClr val="FFFFFF"/>
                    </a:solidFill>
                  </a:tcPr>
                </a:tc>
                <a:tc>
                  <a:txBody>
                    <a:bodyPr/>
                    <a:lstStyle/>
                    <a:p>
                      <a:pPr algn="ctr">
                        <a:defRPr sz="1200" b="0">
                          <a:solidFill>
                            <a:srgbClr val="233046"/>
                          </a:solidFill>
                          <a:latin typeface="Aptos"/>
                        </a:defRPr>
                      </a:pPr>
                      <a:r>
                        <a:t>0.870</a:t>
                      </a:r>
                    </a:p>
                  </a:txBody>
                  <a:tcPr marL="73152" marR="54864" marT="36576" marB="36576" anchor="ctr">
                    <a:solidFill>
                      <a:srgbClr val="FFFFFF"/>
                    </a:solidFill>
                  </a:tcPr>
                </a:tc>
              </a:tr>
              <a:tr h="422910">
                <a:tc>
                  <a:txBody>
                    <a:bodyPr/>
                    <a:lstStyle/>
                    <a:p>
                      <a:pPr algn="l">
                        <a:defRPr sz="1200" b="0">
                          <a:solidFill>
                            <a:srgbClr val="233046"/>
                          </a:solidFill>
                          <a:latin typeface="Aptos"/>
                        </a:defRPr>
                      </a:pPr>
                      <a:r>
                        <a:t>Decision Tree</a:t>
                      </a:r>
                    </a:p>
                  </a:txBody>
                  <a:tcPr marL="73152" marR="54864" marT="36576" marB="36576" anchor="ctr">
                    <a:solidFill>
                      <a:srgbClr val="EFF5F9"/>
                    </a:solidFill>
                  </a:tcPr>
                </a:tc>
                <a:tc>
                  <a:txBody>
                    <a:bodyPr/>
                    <a:lstStyle/>
                    <a:p>
                      <a:pPr algn="ctr">
                        <a:defRPr sz="1200" b="0">
                          <a:solidFill>
                            <a:srgbClr val="233046"/>
                          </a:solidFill>
                          <a:latin typeface="Aptos"/>
                        </a:defRPr>
                      </a:pPr>
                      <a:r>
                        <a:t>0.714</a:t>
                      </a:r>
                    </a:p>
                  </a:txBody>
                  <a:tcPr marL="73152" marR="54864" marT="36576" marB="36576" anchor="ctr">
                    <a:solidFill>
                      <a:srgbClr val="EFF5F9"/>
                    </a:solidFill>
                  </a:tcPr>
                </a:tc>
                <a:tc>
                  <a:txBody>
                    <a:bodyPr/>
                    <a:lstStyle/>
                    <a:p>
                      <a:pPr algn="ctr">
                        <a:defRPr sz="1200" b="0">
                          <a:solidFill>
                            <a:srgbClr val="233046"/>
                          </a:solidFill>
                          <a:latin typeface="Aptos"/>
                        </a:defRPr>
                      </a:pPr>
                      <a:r>
                        <a:t>0.730</a:t>
                      </a:r>
                    </a:p>
                  </a:txBody>
                  <a:tcPr marL="73152" marR="54864" marT="36576" marB="36576" anchor="ctr">
                    <a:solidFill>
                      <a:srgbClr val="EFF5F9"/>
                    </a:solidFill>
                  </a:tcPr>
                </a:tc>
                <a:tc>
                  <a:txBody>
                    <a:bodyPr/>
                    <a:lstStyle/>
                    <a:p>
                      <a:pPr algn="ctr">
                        <a:defRPr sz="1200" b="0">
                          <a:solidFill>
                            <a:srgbClr val="233046"/>
                          </a:solidFill>
                          <a:latin typeface="Aptos"/>
                        </a:defRPr>
                      </a:pPr>
                      <a:r>
                        <a:t>0.532</a:t>
                      </a:r>
                    </a:p>
                  </a:txBody>
                  <a:tcPr marL="73152" marR="54864" marT="36576" marB="36576" anchor="ctr">
                    <a:solidFill>
                      <a:srgbClr val="EFF5F9"/>
                    </a:solidFill>
                  </a:tcPr>
                </a:tc>
                <a:tc>
                  <a:txBody>
                    <a:bodyPr/>
                    <a:lstStyle/>
                    <a:p>
                      <a:pPr algn="ctr">
                        <a:defRPr sz="1200" b="0">
                          <a:solidFill>
                            <a:srgbClr val="233046"/>
                          </a:solidFill>
                          <a:latin typeface="Aptos"/>
                        </a:defRPr>
                      </a:pPr>
                      <a:r>
                        <a:t>0.615</a:t>
                      </a:r>
                    </a:p>
                  </a:txBody>
                  <a:tcPr marL="73152" marR="54864" marT="36576" marB="36576" anchor="ctr">
                    <a:solidFill>
                      <a:srgbClr val="EFF5F9"/>
                    </a:solidFill>
                  </a:tcPr>
                </a:tc>
                <a:tc>
                  <a:txBody>
                    <a:bodyPr/>
                    <a:lstStyle/>
                    <a:p>
                      <a:pPr algn="ctr">
                        <a:defRPr sz="1200" b="0">
                          <a:solidFill>
                            <a:srgbClr val="233046"/>
                          </a:solidFill>
                          <a:latin typeface="Aptos"/>
                        </a:defRPr>
                      </a:pPr>
                      <a:r>
                        <a:t>0.692</a:t>
                      </a:r>
                    </a:p>
                  </a:txBody>
                  <a:tcPr marL="73152" marR="54864" marT="36576" marB="36576" anchor="ctr">
                    <a:solidFill>
                      <a:srgbClr val="EFF5F9"/>
                    </a:solidFill>
                  </a:tcPr>
                </a:tc>
              </a:tr>
              <a:tr h="422910">
                <a:tc>
                  <a:txBody>
                    <a:bodyPr/>
                    <a:lstStyle/>
                    <a:p>
                      <a:pPr algn="l">
                        <a:defRPr sz="1200" b="0">
                          <a:solidFill>
                            <a:srgbClr val="233046"/>
                          </a:solidFill>
                          <a:latin typeface="Aptos"/>
                        </a:defRPr>
                      </a:pPr>
                      <a:r>
                        <a:t>Random Forest</a:t>
                      </a:r>
                    </a:p>
                  </a:txBody>
                  <a:tcPr marL="73152" marR="54864" marT="36576" marB="36576" anchor="ctr">
                    <a:solidFill>
                      <a:srgbClr val="FFFFFF"/>
                    </a:solidFill>
                  </a:tcPr>
                </a:tc>
                <a:tc>
                  <a:txBody>
                    <a:bodyPr/>
                    <a:lstStyle/>
                    <a:p>
                      <a:pPr algn="ctr">
                        <a:defRPr sz="1200" b="0">
                          <a:solidFill>
                            <a:srgbClr val="233046"/>
                          </a:solidFill>
                          <a:latin typeface="Aptos"/>
                        </a:defRPr>
                      </a:pPr>
                      <a:r>
                        <a:t>0.743</a:t>
                      </a:r>
                    </a:p>
                  </a:txBody>
                  <a:tcPr marL="73152" marR="54864" marT="36576" marB="36576" anchor="ctr">
                    <a:solidFill>
                      <a:srgbClr val="FFFFFF"/>
                    </a:solidFill>
                  </a:tcPr>
                </a:tc>
                <a:tc>
                  <a:txBody>
                    <a:bodyPr/>
                    <a:lstStyle/>
                    <a:p>
                      <a:pPr algn="ctr">
                        <a:defRPr sz="1200" b="0">
                          <a:solidFill>
                            <a:srgbClr val="233046"/>
                          </a:solidFill>
                          <a:latin typeface="Aptos"/>
                        </a:defRPr>
                      </a:pPr>
                      <a:r>
                        <a:t>0.937</a:t>
                      </a:r>
                    </a:p>
                  </a:txBody>
                  <a:tcPr marL="73152" marR="54864" marT="36576" marB="36576" anchor="ctr">
                    <a:solidFill>
                      <a:srgbClr val="FFFFFF"/>
                    </a:solidFill>
                  </a:tcPr>
                </a:tc>
                <a:tc>
                  <a:txBody>
                    <a:bodyPr/>
                    <a:lstStyle/>
                    <a:p>
                      <a:pPr algn="ctr">
                        <a:defRPr sz="1200" b="0">
                          <a:solidFill>
                            <a:srgbClr val="233046"/>
                          </a:solidFill>
                          <a:latin typeface="Aptos"/>
                        </a:defRPr>
                      </a:pPr>
                      <a:r>
                        <a:t>0.431</a:t>
                      </a:r>
                    </a:p>
                  </a:txBody>
                  <a:tcPr marL="73152" marR="54864" marT="36576" marB="36576" anchor="ctr">
                    <a:solidFill>
                      <a:srgbClr val="FFFFFF"/>
                    </a:solidFill>
                  </a:tcPr>
                </a:tc>
                <a:tc>
                  <a:txBody>
                    <a:bodyPr/>
                    <a:lstStyle/>
                    <a:p>
                      <a:pPr algn="ctr">
                        <a:defRPr sz="1200" b="0">
                          <a:solidFill>
                            <a:srgbClr val="233046"/>
                          </a:solidFill>
                          <a:latin typeface="Aptos"/>
                        </a:defRPr>
                      </a:pPr>
                      <a:r>
                        <a:t>0.591</a:t>
                      </a:r>
                    </a:p>
                  </a:txBody>
                  <a:tcPr marL="73152" marR="54864" marT="36576" marB="36576" anchor="ctr">
                    <a:solidFill>
                      <a:srgbClr val="FFFFFF"/>
                    </a:solidFill>
                  </a:tcPr>
                </a:tc>
                <a:tc>
                  <a:txBody>
                    <a:bodyPr/>
                    <a:lstStyle/>
                    <a:p>
                      <a:pPr algn="ctr">
                        <a:defRPr sz="1200" b="0">
                          <a:solidFill>
                            <a:srgbClr val="233046"/>
                          </a:solidFill>
                          <a:latin typeface="Aptos"/>
                        </a:defRPr>
                      </a:pPr>
                      <a:r>
                        <a:t>0.840</a:t>
                      </a:r>
                    </a:p>
                  </a:txBody>
                  <a:tcPr marL="73152" marR="54864" marT="36576" marB="36576" anchor="ctr">
                    <a:solidFill>
                      <a:srgbClr val="FFFFFF"/>
                    </a:solidFill>
                  </a:tcPr>
                </a:tc>
              </a:tr>
            </a:tbl>
          </a:graphicData>
        </a:graphic>
      </p:graphicFrame>
      <p:graphicFrame>
        <p:nvGraphicFramePr>
          <p:cNvPr id="7" name="Chart 6"/>
          <p:cNvGraphicFramePr>
            <a:graphicFrameLocks noGrp="1"/>
          </p:cNvGraphicFramePr>
          <p:nvPr/>
        </p:nvGraphicFramePr>
        <p:xfrm>
          <a:off x="777240" y="3566160"/>
          <a:ext cx="6858000" cy="2468880"/>
        </p:xfrm>
        <a:graphic>
          <a:graphicData uri="http://schemas.openxmlformats.org/drawingml/2006/chart">
            <c:chart xmlns:c="http://schemas.openxmlformats.org/drawingml/2006/chart" r:id="rId2"/>
          </a:graphicData>
        </a:graphic>
      </p:graphicFrame>
      <p:sp>
        <p:nvSpPr>
          <p:cNvPr id="8" name="Rounded Rectangle 7"/>
          <p:cNvSpPr/>
          <p:nvPr/>
        </p:nvSpPr>
        <p:spPr>
          <a:xfrm>
            <a:off x="8046720" y="3703320"/>
            <a:ext cx="3063240" cy="1691640"/>
          </a:xfrm>
          <a:prstGeom prst="roundRect">
            <a:avLst/>
          </a:prstGeom>
          <a:solidFill>
            <a:srgbClr val="EFF5F9"/>
          </a:solidFill>
          <a:ln>
            <a:solidFill>
              <a:srgbClr val="DE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046720" y="3703320"/>
            <a:ext cx="73152" cy="1691640"/>
          </a:xfrm>
          <a:prstGeom prst="rect">
            <a:avLst/>
          </a:prstGeom>
          <a:solidFill>
            <a:srgbClr val="1CA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47888" y="3849624"/>
            <a:ext cx="2715768" cy="320040"/>
          </a:xfrm>
          <a:prstGeom prst="rect">
            <a:avLst/>
          </a:prstGeom>
          <a:noFill/>
        </p:spPr>
        <p:txBody>
          <a:bodyPr wrap="none" lIns="36576" rIns="36576" tIns="36576" bIns="36576" anchor="t">
            <a:spAutoFit/>
          </a:bodyPr>
          <a:lstStyle/>
          <a:p>
            <a:pPr algn="l">
              <a:spcAft>
                <a:spcPts val="700"/>
              </a:spcAft>
              <a:defRPr sz="1600" b="1">
                <a:solidFill>
                  <a:srgbClr val="12203A"/>
                </a:solidFill>
                <a:latin typeface="Aptos"/>
              </a:defRPr>
            </a:pPr>
            <a:r>
              <a:t>Best F1 score</a:t>
            </a:r>
          </a:p>
        </p:txBody>
      </p:sp>
      <p:sp>
        <p:nvSpPr>
          <p:cNvPr id="11" name="TextBox 10"/>
          <p:cNvSpPr txBox="1"/>
          <p:nvPr/>
        </p:nvSpPr>
        <p:spPr>
          <a:xfrm>
            <a:off x="8247888" y="4242816"/>
            <a:ext cx="2697480" cy="1069848"/>
          </a:xfrm>
          <a:prstGeom prst="rect">
            <a:avLst/>
          </a:prstGeom>
          <a:noFill/>
        </p:spPr>
        <p:txBody>
          <a:bodyPr wrap="none" lIns="36576" rIns="36576" tIns="36576" bIns="36576" anchor="t">
            <a:spAutoFit/>
          </a:bodyPr>
          <a:lstStyle/>
          <a:p>
            <a:pPr algn="l">
              <a:spcAft>
                <a:spcPts val="700"/>
              </a:spcAft>
              <a:defRPr sz="1300" b="0">
                <a:solidFill>
                  <a:srgbClr val="233046"/>
                </a:solidFill>
                <a:latin typeface="Aptos"/>
              </a:defRPr>
            </a:pPr>
            <a:r>
              <a:t>Logistic Regression</a:t>
            </a:r>
          </a:p>
          <a:p>
            <a:pPr algn="l">
              <a:spcAft>
                <a:spcPts val="700"/>
              </a:spcAft>
              <a:defRPr sz="1300" b="0">
                <a:solidFill>
                  <a:srgbClr val="233046"/>
                </a:solidFill>
                <a:latin typeface="Aptos"/>
              </a:defRPr>
            </a:pPr>
            <a:r>
              <a:t>F1 = 0.768</a:t>
            </a:r>
          </a:p>
          <a:p>
            <a:pPr algn="l">
              <a:spcAft>
                <a:spcPts val="700"/>
              </a:spcAft>
              <a:defRPr sz="1300" b="0">
                <a:solidFill>
                  <a:srgbClr val="233046"/>
                </a:solidFill>
                <a:latin typeface="Aptos"/>
              </a:defRPr>
            </a:pPr>
            <a:r>
              <a:t>Accuracy = 0.817</a:t>
            </a:r>
          </a:p>
        </p:txBody>
      </p:sp>
      <p:sp>
        <p:nvSpPr>
          <p:cNvPr id="12" name="TextBox 11"/>
          <p:cNvSpPr txBox="1"/>
          <p:nvPr/>
        </p:nvSpPr>
        <p:spPr>
          <a:xfrm>
            <a:off x="822960" y="6199632"/>
            <a:ext cx="10607040" cy="228600"/>
          </a:xfrm>
          <a:prstGeom prst="rect">
            <a:avLst/>
          </a:prstGeom>
          <a:noFill/>
        </p:spPr>
        <p:txBody>
          <a:bodyPr wrap="none" lIns="36576" rIns="36576" tIns="36576" bIns="36576" anchor="t">
            <a:spAutoFit/>
          </a:bodyPr>
          <a:lstStyle/>
          <a:p>
            <a:pPr algn="l">
              <a:spcAft>
                <a:spcPts val="700"/>
              </a:spcAft>
              <a:defRPr sz="1000" b="0">
                <a:solidFill>
                  <a:srgbClr val="637387"/>
                </a:solidFill>
                <a:latin typeface="Aptos"/>
              </a:defRPr>
            </a:pPr>
            <a:r>
              <a:t>Interpretation: Logistic Regression provides the strongest F1 score in this rerun; Random Forest has higher precision but lower recall.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10698480" cy="438912"/>
          </a:xfrm>
          <a:prstGeom prst="rect">
            <a:avLst/>
          </a:prstGeom>
          <a:noFill/>
        </p:spPr>
        <p:txBody>
          <a:bodyPr wrap="none" lIns="36576" rIns="36576" tIns="36576" bIns="36576" anchor="t">
            <a:spAutoFit/>
          </a:bodyPr>
          <a:lstStyle/>
          <a:p>
            <a:pPr algn="l">
              <a:spcAft>
                <a:spcPts val="700"/>
              </a:spcAft>
              <a:defRPr sz="2600" b="1">
                <a:solidFill>
                  <a:srgbClr val="12203A"/>
                </a:solidFill>
                <a:latin typeface="Aptos"/>
              </a:defRPr>
            </a:pPr>
            <a:r>
              <a:t>Selected model: classification outcomes</a:t>
            </a:r>
          </a:p>
        </p:txBody>
      </p:sp>
      <p:sp>
        <p:nvSpPr>
          <p:cNvPr id="3" name="TextBox 2"/>
          <p:cNvSpPr txBox="1"/>
          <p:nvPr/>
        </p:nvSpPr>
        <p:spPr>
          <a:xfrm>
            <a:off x="594360" y="758952"/>
            <a:ext cx="10789920" cy="274320"/>
          </a:xfrm>
          <a:prstGeom prst="rect">
            <a:avLst/>
          </a:prstGeom>
          <a:noFill/>
        </p:spPr>
        <p:txBody>
          <a:bodyPr wrap="none" lIns="36576" rIns="36576" tIns="36576" bIns="36576" anchor="t">
            <a:spAutoFit/>
          </a:bodyPr>
          <a:lstStyle/>
          <a:p>
            <a:pPr algn="l">
              <a:spcAft>
                <a:spcPts val="700"/>
              </a:spcAft>
              <a:defRPr sz="1000" b="0">
                <a:solidFill>
                  <a:srgbClr val="637387"/>
                </a:solidFill>
                <a:latin typeface="Aptos"/>
              </a:defRPr>
            </a:pPr>
            <a:r>
              <a:t>Confusion matrix for the highest-F1 model</a:t>
            </a:r>
          </a:p>
        </p:txBody>
      </p:sp>
      <p:sp>
        <p:nvSpPr>
          <p:cNvPr id="4" name="Rectangle 3"/>
          <p:cNvSpPr/>
          <p:nvPr/>
        </p:nvSpPr>
        <p:spPr>
          <a:xfrm>
            <a:off x="594360" y="1115568"/>
            <a:ext cx="658368" cy="50292"/>
          </a:xfrm>
          <a:prstGeom prst="rect">
            <a:avLst/>
          </a:prstGeom>
          <a:solidFill>
            <a:srgbClr val="1CA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92840" y="6473952"/>
            <a:ext cx="365760" cy="182880"/>
          </a:xfrm>
          <a:prstGeom prst="rect">
            <a:avLst/>
          </a:prstGeom>
          <a:noFill/>
        </p:spPr>
        <p:txBody>
          <a:bodyPr wrap="none" lIns="36576" rIns="36576" tIns="36576" bIns="36576" anchor="t">
            <a:spAutoFit/>
          </a:bodyPr>
          <a:lstStyle/>
          <a:p>
            <a:pPr algn="r">
              <a:spcAft>
                <a:spcPts val="700"/>
              </a:spcAft>
              <a:defRPr sz="900" b="1">
                <a:solidFill>
                  <a:srgbClr val="637387"/>
                </a:solidFill>
                <a:latin typeface="Aptos"/>
              </a:defRPr>
            </a:pPr>
            <a:r>
              <a:t>10</a:t>
            </a:r>
          </a:p>
        </p:txBody>
      </p:sp>
      <p:sp>
        <p:nvSpPr>
          <p:cNvPr id="6" name="TextBox 5"/>
          <p:cNvSpPr txBox="1"/>
          <p:nvPr/>
        </p:nvSpPr>
        <p:spPr>
          <a:xfrm>
            <a:off x="822960" y="1417320"/>
            <a:ext cx="3931920" cy="320040"/>
          </a:xfrm>
          <a:prstGeom prst="rect">
            <a:avLst/>
          </a:prstGeom>
          <a:noFill/>
        </p:spPr>
        <p:txBody>
          <a:bodyPr wrap="none" lIns="36576" rIns="36576" tIns="36576" bIns="36576" anchor="t">
            <a:spAutoFit/>
          </a:bodyPr>
          <a:lstStyle/>
          <a:p>
            <a:pPr algn="l">
              <a:spcAft>
                <a:spcPts val="700"/>
              </a:spcAft>
              <a:defRPr sz="1500" b="1">
                <a:solidFill>
                  <a:srgbClr val="12203A"/>
                </a:solidFill>
                <a:latin typeface="Aptos"/>
              </a:defRPr>
            </a:pPr>
            <a:r>
              <a:t>MODEL: Logistic Regression</a:t>
            </a:r>
          </a:p>
        </p:txBody>
      </p:sp>
      <p:sp>
        <p:nvSpPr>
          <p:cNvPr id="7" name="TextBox 6"/>
          <p:cNvSpPr txBox="1"/>
          <p:nvPr/>
        </p:nvSpPr>
        <p:spPr>
          <a:xfrm>
            <a:off x="3291840" y="1828800"/>
            <a:ext cx="2926080" cy="320040"/>
          </a:xfrm>
          <a:prstGeom prst="rect">
            <a:avLst/>
          </a:prstGeom>
          <a:noFill/>
        </p:spPr>
        <p:txBody>
          <a:bodyPr wrap="none" lIns="36576" rIns="36576" tIns="36576" bIns="36576" anchor="t">
            <a:spAutoFit/>
          </a:bodyPr>
          <a:lstStyle/>
          <a:p>
            <a:pPr algn="ctr">
              <a:spcAft>
                <a:spcPts val="700"/>
              </a:spcAft>
              <a:defRPr sz="1200" b="1">
                <a:solidFill>
                  <a:srgbClr val="637387"/>
                </a:solidFill>
                <a:latin typeface="Aptos"/>
              </a:defRPr>
            </a:pPr>
            <a:r>
              <a:t>PREDICTED LABEL</a:t>
            </a:r>
          </a:p>
        </p:txBody>
      </p:sp>
      <p:sp>
        <p:nvSpPr>
          <p:cNvPr id="8" name="TextBox 7"/>
          <p:cNvSpPr txBox="1"/>
          <p:nvPr/>
        </p:nvSpPr>
        <p:spPr>
          <a:xfrm>
            <a:off x="914400" y="2606040"/>
            <a:ext cx="1554480" cy="457200"/>
          </a:xfrm>
          <a:prstGeom prst="rect">
            <a:avLst/>
          </a:prstGeom>
          <a:noFill/>
        </p:spPr>
        <p:txBody>
          <a:bodyPr wrap="none" lIns="36576" rIns="36576" tIns="36576" bIns="36576" anchor="t">
            <a:spAutoFit/>
          </a:bodyPr>
          <a:lstStyle/>
          <a:p>
            <a:pPr algn="ctr">
              <a:spcAft>
                <a:spcPts val="700"/>
              </a:spcAft>
              <a:defRPr sz="1100" b="1">
                <a:solidFill>
                  <a:srgbClr val="637387"/>
                </a:solidFill>
                <a:latin typeface="Aptos"/>
              </a:defRPr>
            </a:pPr>
            <a:r>
              <a:t>ACTUAL</a:t>
            </a:r>
          </a:p>
          <a:p>
            <a:pPr algn="ctr">
              <a:spcAft>
                <a:spcPts val="700"/>
              </a:spcAft>
              <a:defRPr sz="1100" b="1">
                <a:solidFill>
                  <a:srgbClr val="637387"/>
                </a:solidFill>
                <a:latin typeface="Aptos"/>
              </a:defRPr>
            </a:pPr>
            <a:r>
              <a:t>LABEL</a:t>
            </a:r>
          </a:p>
        </p:txBody>
      </p:sp>
      <p:sp>
        <p:nvSpPr>
          <p:cNvPr id="9" name="Rounded Rectangle 8"/>
          <p:cNvSpPr/>
          <p:nvPr/>
        </p:nvSpPr>
        <p:spPr>
          <a:xfrm>
            <a:off x="2834640" y="2240280"/>
            <a:ext cx="1554480" cy="1051560"/>
          </a:xfrm>
          <a:prstGeom prst="roundRect">
            <a:avLst/>
          </a:prstGeom>
          <a:solidFill>
            <a:srgbClr val="EFF5F9"/>
          </a:solidFill>
          <a:ln w="25400">
            <a:solidFill>
              <a:srgbClr val="3E9D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07792" y="2441448"/>
            <a:ext cx="1417320" cy="640080"/>
          </a:xfrm>
          <a:prstGeom prst="rect">
            <a:avLst/>
          </a:prstGeom>
          <a:noFill/>
        </p:spPr>
        <p:txBody>
          <a:bodyPr wrap="none" lIns="36576" rIns="36576" tIns="36576" bIns="36576" anchor="ctr">
            <a:spAutoFit/>
          </a:bodyPr>
          <a:lstStyle/>
          <a:p>
            <a:pPr algn="ctr">
              <a:spcAft>
                <a:spcPts val="700"/>
              </a:spcAft>
              <a:defRPr sz="1400" b="1">
                <a:solidFill>
                  <a:srgbClr val="12203A"/>
                </a:solidFill>
                <a:latin typeface="Aptos"/>
              </a:defRPr>
            </a:pPr>
            <a:r>
              <a:t>True negative</a:t>
            </a:r>
          </a:p>
          <a:p>
            <a:pPr algn="ctr">
              <a:spcAft>
                <a:spcPts val="700"/>
              </a:spcAft>
              <a:defRPr sz="1400" b="1">
                <a:solidFill>
                  <a:srgbClr val="12203A"/>
                </a:solidFill>
                <a:latin typeface="Aptos"/>
              </a:defRPr>
            </a:pPr>
            <a:r>
              <a:t>781</a:t>
            </a:r>
          </a:p>
        </p:txBody>
      </p:sp>
      <p:sp>
        <p:nvSpPr>
          <p:cNvPr id="11" name="Rounded Rectangle 10"/>
          <p:cNvSpPr/>
          <p:nvPr/>
        </p:nvSpPr>
        <p:spPr>
          <a:xfrm>
            <a:off x="4480560" y="2240280"/>
            <a:ext cx="1554480" cy="1051560"/>
          </a:xfrm>
          <a:prstGeom prst="roundRect">
            <a:avLst/>
          </a:prstGeom>
          <a:solidFill>
            <a:srgbClr val="EFF5F9"/>
          </a:solidFill>
          <a:ln w="25400">
            <a:solidFill>
              <a:srgbClr val="EB99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53712" y="2441448"/>
            <a:ext cx="1417320" cy="640080"/>
          </a:xfrm>
          <a:prstGeom prst="rect">
            <a:avLst/>
          </a:prstGeom>
          <a:noFill/>
        </p:spPr>
        <p:txBody>
          <a:bodyPr wrap="none" lIns="36576" rIns="36576" tIns="36576" bIns="36576" anchor="ctr">
            <a:spAutoFit/>
          </a:bodyPr>
          <a:lstStyle/>
          <a:p>
            <a:pPr algn="ctr">
              <a:spcAft>
                <a:spcPts val="700"/>
              </a:spcAft>
              <a:defRPr sz="1400" b="1">
                <a:solidFill>
                  <a:srgbClr val="12203A"/>
                </a:solidFill>
                <a:latin typeface="Aptos"/>
              </a:defRPr>
            </a:pPr>
            <a:r>
              <a:t>False positive</a:t>
            </a:r>
          </a:p>
          <a:p>
            <a:pPr algn="ctr">
              <a:spcAft>
                <a:spcPts val="700"/>
              </a:spcAft>
              <a:defRPr sz="1400" b="1">
                <a:solidFill>
                  <a:srgbClr val="12203A"/>
                </a:solidFill>
                <a:latin typeface="Aptos"/>
              </a:defRPr>
            </a:pPr>
            <a:r>
              <a:t>88</a:t>
            </a:r>
          </a:p>
        </p:txBody>
      </p:sp>
      <p:sp>
        <p:nvSpPr>
          <p:cNvPr id="13" name="Rounded Rectangle 12"/>
          <p:cNvSpPr/>
          <p:nvPr/>
        </p:nvSpPr>
        <p:spPr>
          <a:xfrm>
            <a:off x="2834640" y="3383280"/>
            <a:ext cx="1554480" cy="1051560"/>
          </a:xfrm>
          <a:prstGeom prst="roundRect">
            <a:avLst/>
          </a:prstGeom>
          <a:solidFill>
            <a:srgbClr val="EFF5F9"/>
          </a:solidFill>
          <a:ln w="25400">
            <a:solidFill>
              <a:srgbClr val="EB99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07792" y="3584448"/>
            <a:ext cx="1417320" cy="640080"/>
          </a:xfrm>
          <a:prstGeom prst="rect">
            <a:avLst/>
          </a:prstGeom>
          <a:noFill/>
        </p:spPr>
        <p:txBody>
          <a:bodyPr wrap="none" lIns="36576" rIns="36576" tIns="36576" bIns="36576" anchor="ctr">
            <a:spAutoFit/>
          </a:bodyPr>
          <a:lstStyle/>
          <a:p>
            <a:pPr algn="ctr">
              <a:spcAft>
                <a:spcPts val="700"/>
              </a:spcAft>
              <a:defRPr sz="1400" b="1">
                <a:solidFill>
                  <a:srgbClr val="12203A"/>
                </a:solidFill>
                <a:latin typeface="Aptos"/>
              </a:defRPr>
            </a:pPr>
            <a:r>
              <a:t>False negative</a:t>
            </a:r>
          </a:p>
          <a:p>
            <a:pPr algn="ctr">
              <a:spcAft>
                <a:spcPts val="700"/>
              </a:spcAft>
              <a:defRPr sz="1400" b="1">
                <a:solidFill>
                  <a:srgbClr val="12203A"/>
                </a:solidFill>
                <a:latin typeface="Aptos"/>
              </a:defRPr>
            </a:pPr>
            <a:r>
              <a:t>191</a:t>
            </a:r>
          </a:p>
        </p:txBody>
      </p:sp>
      <p:sp>
        <p:nvSpPr>
          <p:cNvPr id="15" name="Rounded Rectangle 14"/>
          <p:cNvSpPr/>
          <p:nvPr/>
        </p:nvSpPr>
        <p:spPr>
          <a:xfrm>
            <a:off x="4480560" y="3383280"/>
            <a:ext cx="1554480" cy="1051560"/>
          </a:xfrm>
          <a:prstGeom prst="roundRect">
            <a:avLst/>
          </a:prstGeom>
          <a:solidFill>
            <a:srgbClr val="EFF5F9"/>
          </a:solidFill>
          <a:ln w="25400">
            <a:solidFill>
              <a:srgbClr val="3E9D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53712" y="3584448"/>
            <a:ext cx="1417320" cy="640080"/>
          </a:xfrm>
          <a:prstGeom prst="rect">
            <a:avLst/>
          </a:prstGeom>
          <a:noFill/>
        </p:spPr>
        <p:txBody>
          <a:bodyPr wrap="none" lIns="36576" rIns="36576" tIns="36576" bIns="36576" anchor="ctr">
            <a:spAutoFit/>
          </a:bodyPr>
          <a:lstStyle/>
          <a:p>
            <a:pPr algn="ctr">
              <a:spcAft>
                <a:spcPts val="700"/>
              </a:spcAft>
              <a:defRPr sz="1400" b="1">
                <a:solidFill>
                  <a:srgbClr val="12203A"/>
                </a:solidFill>
                <a:latin typeface="Aptos"/>
              </a:defRPr>
            </a:pPr>
            <a:r>
              <a:t>True positive</a:t>
            </a:r>
          </a:p>
          <a:p>
            <a:pPr algn="ctr">
              <a:spcAft>
                <a:spcPts val="700"/>
              </a:spcAft>
              <a:defRPr sz="1400" b="1">
                <a:solidFill>
                  <a:srgbClr val="12203A"/>
                </a:solidFill>
                <a:latin typeface="Aptos"/>
              </a:defRPr>
            </a:pPr>
            <a:r>
              <a:t>463</a:t>
            </a:r>
          </a:p>
        </p:txBody>
      </p:sp>
      <p:sp>
        <p:nvSpPr>
          <p:cNvPr id="17" name="TextBox 16"/>
          <p:cNvSpPr txBox="1"/>
          <p:nvPr/>
        </p:nvSpPr>
        <p:spPr>
          <a:xfrm>
            <a:off x="6766560" y="2148840"/>
            <a:ext cx="4023360" cy="411480"/>
          </a:xfrm>
          <a:prstGeom prst="rect">
            <a:avLst/>
          </a:prstGeom>
          <a:noFill/>
        </p:spPr>
        <p:txBody>
          <a:bodyPr wrap="none" lIns="36576" rIns="36576" tIns="36576" bIns="36576" anchor="t">
            <a:spAutoFit/>
          </a:bodyPr>
          <a:lstStyle/>
          <a:p>
            <a:pPr algn="l">
              <a:spcAft>
                <a:spcPts val="700"/>
              </a:spcAft>
              <a:defRPr sz="1500" b="1">
                <a:solidFill>
                  <a:srgbClr val="12203A"/>
                </a:solidFill>
                <a:latin typeface="Aptos"/>
              </a:defRPr>
            </a:pPr>
            <a:r>
              <a:t>WHAT THIS MEANS</a:t>
            </a:r>
          </a:p>
        </p:txBody>
      </p:sp>
      <p:sp>
        <p:nvSpPr>
          <p:cNvPr id="18" name="TextBox 17"/>
          <p:cNvSpPr txBox="1"/>
          <p:nvPr/>
        </p:nvSpPr>
        <p:spPr>
          <a:xfrm>
            <a:off x="6766560" y="2606040"/>
            <a:ext cx="4251960" cy="2468880"/>
          </a:xfrm>
          <a:prstGeom prst="rect">
            <a:avLst/>
          </a:prstGeom>
          <a:noFill/>
        </p:spPr>
        <p:txBody>
          <a:bodyPr wrap="none" lIns="54864" rIns="54864" tIns="27432" bIns="27432">
            <a:spAutoFit/>
          </a:bodyPr>
          <a:lstStyle/>
          <a:p>
            <a:pPr>
              <a:spcAft>
                <a:spcPts val="1100"/>
              </a:spcAft>
              <a:defRPr sz="1300">
                <a:solidFill>
                  <a:srgbClr val="233046"/>
                </a:solidFill>
                <a:latin typeface="Aptos"/>
              </a:defRPr>
            </a:pPr>
            <a:r>
              <a:t>•  781 non-disaster tweets correctly predicted as non-disaster.</a:t>
            </a:r>
          </a:p>
          <a:p>
            <a:pPr>
              <a:spcAft>
                <a:spcPts val="1100"/>
              </a:spcAft>
              <a:defRPr sz="1300">
                <a:solidFill>
                  <a:srgbClr val="233046"/>
                </a:solidFill>
                <a:latin typeface="Aptos"/>
              </a:defRPr>
            </a:pPr>
            <a:r>
              <a:t>•  463 disaster tweets correctly identified.</a:t>
            </a:r>
          </a:p>
          <a:p>
            <a:pPr>
              <a:spcAft>
                <a:spcPts val="1100"/>
              </a:spcAft>
              <a:defRPr sz="1300">
                <a:solidFill>
                  <a:srgbClr val="233046"/>
                </a:solidFill>
                <a:latin typeface="Aptos"/>
              </a:defRPr>
            </a:pPr>
            <a:r>
              <a:t>•  191 disaster tweets were missed (false negatives).</a:t>
            </a:r>
          </a:p>
          <a:p>
            <a:pPr>
              <a:spcAft>
                <a:spcPts val="1100"/>
              </a:spcAft>
              <a:defRPr sz="1300">
                <a:solidFill>
                  <a:srgbClr val="233046"/>
                </a:solidFill>
                <a:latin typeface="Aptos"/>
              </a:defRPr>
            </a:pPr>
            <a:r>
              <a:t>•  88 non-disaster tweets were flagged as disasters.</a:t>
            </a:r>
          </a:p>
        </p:txBody>
      </p:sp>
      <p:sp>
        <p:nvSpPr>
          <p:cNvPr id="19" name="TextBox 18"/>
          <p:cNvSpPr txBox="1"/>
          <p:nvPr/>
        </p:nvSpPr>
        <p:spPr>
          <a:xfrm>
            <a:off x="822960" y="5166360"/>
            <a:ext cx="10332720" cy="548640"/>
          </a:xfrm>
          <a:prstGeom prst="rect">
            <a:avLst/>
          </a:prstGeom>
          <a:noFill/>
        </p:spPr>
        <p:txBody>
          <a:bodyPr wrap="none" lIns="36576" rIns="36576" tIns="36576" bIns="36576" anchor="t">
            <a:spAutoFit/>
          </a:bodyPr>
          <a:lstStyle/>
          <a:p>
            <a:pPr algn="l">
              <a:spcAft>
                <a:spcPts val="700"/>
              </a:spcAft>
              <a:defRPr sz="1200" b="0">
                <a:solidFill>
                  <a:srgbClr val="637387"/>
                </a:solidFill>
                <a:latin typeface="Aptos"/>
              </a:defRPr>
            </a:pPr>
            <a:r>
              <a:t>Operational note: for emergency triage, false negatives deserve careful attention; thresholds and review workflows should be assessed before real-world use.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10698480" cy="438912"/>
          </a:xfrm>
          <a:prstGeom prst="rect">
            <a:avLst/>
          </a:prstGeom>
          <a:noFill/>
        </p:spPr>
        <p:txBody>
          <a:bodyPr wrap="none" lIns="36576" rIns="36576" tIns="36576" bIns="36576" anchor="t">
            <a:spAutoFit/>
          </a:bodyPr>
          <a:lstStyle/>
          <a:p>
            <a:pPr algn="l">
              <a:spcAft>
                <a:spcPts val="700"/>
              </a:spcAft>
              <a:defRPr sz="2600" b="1">
                <a:solidFill>
                  <a:srgbClr val="12203A"/>
                </a:solidFill>
                <a:latin typeface="Aptos"/>
              </a:defRPr>
            </a:pPr>
            <a:r>
              <a:t>Web application &amp; deployment</a:t>
            </a:r>
          </a:p>
        </p:txBody>
      </p:sp>
      <p:sp>
        <p:nvSpPr>
          <p:cNvPr id="3" name="TextBox 2"/>
          <p:cNvSpPr txBox="1"/>
          <p:nvPr/>
        </p:nvSpPr>
        <p:spPr>
          <a:xfrm>
            <a:off x="594360" y="758952"/>
            <a:ext cx="10789920" cy="274320"/>
          </a:xfrm>
          <a:prstGeom prst="rect">
            <a:avLst/>
          </a:prstGeom>
          <a:noFill/>
        </p:spPr>
        <p:txBody>
          <a:bodyPr wrap="none" lIns="36576" rIns="36576" tIns="36576" bIns="36576" anchor="t">
            <a:spAutoFit/>
          </a:bodyPr>
          <a:lstStyle/>
          <a:p>
            <a:pPr algn="l">
              <a:spcAft>
                <a:spcPts val="700"/>
              </a:spcAft>
              <a:defRPr sz="1000" b="0">
                <a:solidFill>
                  <a:srgbClr val="637387"/>
                </a:solidFill>
                <a:latin typeface="Aptos"/>
              </a:defRPr>
            </a:pPr>
            <a:r>
              <a:t>Flask wraps the trained model in a simple interactive interface</a:t>
            </a:r>
          </a:p>
        </p:txBody>
      </p:sp>
      <p:sp>
        <p:nvSpPr>
          <p:cNvPr id="4" name="Rectangle 3"/>
          <p:cNvSpPr/>
          <p:nvPr/>
        </p:nvSpPr>
        <p:spPr>
          <a:xfrm>
            <a:off x="594360" y="1115568"/>
            <a:ext cx="658368" cy="50292"/>
          </a:xfrm>
          <a:prstGeom prst="rect">
            <a:avLst/>
          </a:prstGeom>
          <a:solidFill>
            <a:srgbClr val="1CA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92840" y="6473952"/>
            <a:ext cx="365760" cy="182880"/>
          </a:xfrm>
          <a:prstGeom prst="rect">
            <a:avLst/>
          </a:prstGeom>
          <a:noFill/>
        </p:spPr>
        <p:txBody>
          <a:bodyPr wrap="none" lIns="36576" rIns="36576" tIns="36576" bIns="36576" anchor="t">
            <a:spAutoFit/>
          </a:bodyPr>
          <a:lstStyle/>
          <a:p>
            <a:pPr algn="r">
              <a:spcAft>
                <a:spcPts val="700"/>
              </a:spcAft>
              <a:defRPr sz="900" b="1">
                <a:solidFill>
                  <a:srgbClr val="637387"/>
                </a:solidFill>
                <a:latin typeface="Aptos"/>
              </a:defRPr>
            </a:pPr>
            <a:r>
              <a:t>11</a:t>
            </a:r>
          </a:p>
        </p:txBody>
      </p:sp>
      <p:sp>
        <p:nvSpPr>
          <p:cNvPr id="6" name="Rounded Rectangle 5"/>
          <p:cNvSpPr/>
          <p:nvPr/>
        </p:nvSpPr>
        <p:spPr>
          <a:xfrm>
            <a:off x="731520" y="1508760"/>
            <a:ext cx="5486400" cy="4251960"/>
          </a:xfrm>
          <a:prstGeom prst="roundRect">
            <a:avLst/>
          </a:prstGeom>
          <a:solidFill>
            <a:srgbClr val="EFF5F9"/>
          </a:solidFill>
          <a:ln>
            <a:solidFill>
              <a:srgbClr val="D2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08760"/>
            <a:ext cx="5486400" cy="438912"/>
          </a:xfrm>
          <a:prstGeom prst="rect">
            <a:avLst/>
          </a:prstGeom>
          <a:solidFill>
            <a:srgbClr val="122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09344"/>
            <a:ext cx="4846320" cy="228600"/>
          </a:xfrm>
          <a:prstGeom prst="rect">
            <a:avLst/>
          </a:prstGeom>
          <a:noFill/>
        </p:spPr>
        <p:txBody>
          <a:bodyPr wrap="none" lIns="36576" rIns="36576" tIns="36576" bIns="36576" anchor="t">
            <a:spAutoFit/>
          </a:bodyPr>
          <a:lstStyle/>
          <a:p>
            <a:pPr algn="l">
              <a:spcAft>
                <a:spcPts val="700"/>
              </a:spcAft>
              <a:defRPr sz="1000" b="1">
                <a:solidFill>
                  <a:srgbClr val="FFFFFF"/>
                </a:solidFill>
                <a:latin typeface="Aptos"/>
              </a:defRPr>
            </a:pPr>
            <a:r>
              <a:t>Disaster Tweet Classifier  •  localhost:5000</a:t>
            </a:r>
          </a:p>
        </p:txBody>
      </p:sp>
      <p:sp>
        <p:nvSpPr>
          <p:cNvPr id="9" name="TextBox 8"/>
          <p:cNvSpPr txBox="1"/>
          <p:nvPr/>
        </p:nvSpPr>
        <p:spPr>
          <a:xfrm>
            <a:off x="1051560" y="2240280"/>
            <a:ext cx="4663440" cy="365760"/>
          </a:xfrm>
          <a:prstGeom prst="rect">
            <a:avLst/>
          </a:prstGeom>
          <a:noFill/>
        </p:spPr>
        <p:txBody>
          <a:bodyPr wrap="none" lIns="36576" rIns="36576" tIns="36576" bIns="36576" anchor="t">
            <a:spAutoFit/>
          </a:bodyPr>
          <a:lstStyle/>
          <a:p>
            <a:pPr algn="l">
              <a:spcAft>
                <a:spcPts val="700"/>
              </a:spcAft>
              <a:defRPr sz="1800" b="1">
                <a:solidFill>
                  <a:srgbClr val="12203A"/>
                </a:solidFill>
                <a:latin typeface="Aptos"/>
              </a:defRPr>
            </a:pPr>
            <a:r>
              <a:t>Enter a tweet</a:t>
            </a:r>
          </a:p>
        </p:txBody>
      </p:sp>
      <p:sp>
        <p:nvSpPr>
          <p:cNvPr id="10" name="Rounded Rectangle 9"/>
          <p:cNvSpPr/>
          <p:nvPr/>
        </p:nvSpPr>
        <p:spPr>
          <a:xfrm>
            <a:off x="1051560" y="2724912"/>
            <a:ext cx="4800600" cy="960120"/>
          </a:xfrm>
          <a:prstGeom prst="roundRect">
            <a:avLst/>
          </a:prstGeom>
          <a:solidFill>
            <a:srgbClr val="FFFFFF"/>
          </a:solidFill>
          <a:ln>
            <a:solidFill>
              <a:srgbClr val="C1CF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34440" y="2926080"/>
            <a:ext cx="4480560" cy="548640"/>
          </a:xfrm>
          <a:prstGeom prst="rect">
            <a:avLst/>
          </a:prstGeom>
          <a:noFill/>
        </p:spPr>
        <p:txBody>
          <a:bodyPr wrap="none" lIns="36576" rIns="36576" tIns="36576" bIns="36576" anchor="t">
            <a:spAutoFit/>
          </a:bodyPr>
          <a:lstStyle/>
          <a:p>
            <a:pPr algn="l">
              <a:spcAft>
                <a:spcPts val="700"/>
              </a:spcAft>
              <a:defRPr sz="1200" b="0">
                <a:solidFill>
                  <a:srgbClr val="637387"/>
                </a:solidFill>
                <a:latin typeface="Aptos"/>
              </a:defRPr>
            </a:pPr>
            <a:r>
              <a:t>Flood waters are rising and people are being evacuated</a:t>
            </a:r>
          </a:p>
        </p:txBody>
      </p:sp>
      <p:sp>
        <p:nvSpPr>
          <p:cNvPr id="12" name="Rounded Rectangle 11"/>
          <p:cNvSpPr/>
          <p:nvPr/>
        </p:nvSpPr>
        <p:spPr>
          <a:xfrm>
            <a:off x="1051560" y="3913632"/>
            <a:ext cx="1554480" cy="438912"/>
          </a:xfrm>
          <a:prstGeom prst="roundRect">
            <a:avLst/>
          </a:prstGeom>
          <a:solidFill>
            <a:srgbClr val="1CA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3986784"/>
            <a:ext cx="1371600" cy="228600"/>
          </a:xfrm>
          <a:prstGeom prst="rect">
            <a:avLst/>
          </a:prstGeom>
          <a:noFill/>
        </p:spPr>
        <p:txBody>
          <a:bodyPr wrap="none" lIns="36576" rIns="36576" tIns="36576" bIns="36576" anchor="t">
            <a:spAutoFit/>
          </a:bodyPr>
          <a:lstStyle/>
          <a:p>
            <a:pPr algn="ctr">
              <a:spcAft>
                <a:spcPts val="700"/>
              </a:spcAft>
              <a:defRPr sz="1100" b="1">
                <a:solidFill>
                  <a:srgbClr val="FFFFFF"/>
                </a:solidFill>
                <a:latin typeface="Aptos"/>
              </a:defRPr>
            </a:pPr>
            <a:r>
              <a:t>Classify Tweet</a:t>
            </a:r>
          </a:p>
        </p:txBody>
      </p:sp>
      <p:sp>
        <p:nvSpPr>
          <p:cNvPr id="14" name="TextBox 13"/>
          <p:cNvSpPr txBox="1"/>
          <p:nvPr/>
        </p:nvSpPr>
        <p:spPr>
          <a:xfrm>
            <a:off x="1051560" y="4617720"/>
            <a:ext cx="4754880" cy="347472"/>
          </a:xfrm>
          <a:prstGeom prst="rect">
            <a:avLst/>
          </a:prstGeom>
          <a:noFill/>
        </p:spPr>
        <p:txBody>
          <a:bodyPr wrap="none" lIns="36576" rIns="36576" tIns="36576" bIns="36576" anchor="t">
            <a:spAutoFit/>
          </a:bodyPr>
          <a:lstStyle/>
          <a:p>
            <a:pPr algn="l">
              <a:spcAft>
                <a:spcPts val="700"/>
              </a:spcAft>
              <a:defRPr sz="1400" b="1">
                <a:solidFill>
                  <a:srgbClr val="3E9D74"/>
                </a:solidFill>
                <a:latin typeface="Aptos"/>
              </a:defRPr>
            </a:pPr>
            <a:r>
              <a:t>Prediction: REAL DISASTER TWEET</a:t>
            </a:r>
          </a:p>
        </p:txBody>
      </p:sp>
      <p:sp>
        <p:nvSpPr>
          <p:cNvPr id="15" name="TextBox 14"/>
          <p:cNvSpPr txBox="1"/>
          <p:nvPr/>
        </p:nvSpPr>
        <p:spPr>
          <a:xfrm>
            <a:off x="6812280" y="1645920"/>
            <a:ext cx="4114800" cy="365760"/>
          </a:xfrm>
          <a:prstGeom prst="rect">
            <a:avLst/>
          </a:prstGeom>
          <a:noFill/>
        </p:spPr>
        <p:txBody>
          <a:bodyPr wrap="none" lIns="36576" rIns="36576" tIns="36576" bIns="36576" anchor="t">
            <a:spAutoFit/>
          </a:bodyPr>
          <a:lstStyle/>
          <a:p>
            <a:pPr algn="l">
              <a:spcAft>
                <a:spcPts val="700"/>
              </a:spcAft>
              <a:defRPr sz="1500" b="1">
                <a:solidFill>
                  <a:srgbClr val="12203A"/>
                </a:solidFill>
                <a:latin typeface="Aptos"/>
              </a:defRPr>
            </a:pPr>
            <a:r>
              <a:t>HOW IT WORKS</a:t>
            </a:r>
          </a:p>
        </p:txBody>
      </p:sp>
      <p:sp>
        <p:nvSpPr>
          <p:cNvPr id="16" name="TextBox 15"/>
          <p:cNvSpPr txBox="1"/>
          <p:nvPr/>
        </p:nvSpPr>
        <p:spPr>
          <a:xfrm>
            <a:off x="6812280" y="2057400"/>
            <a:ext cx="4297680" cy="2286000"/>
          </a:xfrm>
          <a:prstGeom prst="rect">
            <a:avLst/>
          </a:prstGeom>
          <a:noFill/>
        </p:spPr>
        <p:txBody>
          <a:bodyPr wrap="none" lIns="54864" rIns="54864" tIns="27432" bIns="27432">
            <a:spAutoFit/>
          </a:bodyPr>
          <a:lstStyle/>
          <a:p>
            <a:pPr>
              <a:spcAft>
                <a:spcPts val="1100"/>
              </a:spcAft>
              <a:defRPr sz="1300">
                <a:solidFill>
                  <a:srgbClr val="233046"/>
                </a:solidFill>
                <a:latin typeface="Aptos"/>
              </a:defRPr>
            </a:pPr>
            <a:r>
              <a:t>•  Loads disaster_tweet_model.pkl and tfidf_vectorizer.pkl.</a:t>
            </a:r>
          </a:p>
          <a:p>
            <a:pPr>
              <a:spcAft>
                <a:spcPts val="1100"/>
              </a:spcAft>
              <a:defRPr sz="1300">
                <a:solidFill>
                  <a:srgbClr val="233046"/>
                </a:solidFill>
                <a:latin typeface="Aptos"/>
              </a:defRPr>
            </a:pPr>
            <a:r>
              <a:t>•  Cleans the submitted text using the same cleaning function.</a:t>
            </a:r>
          </a:p>
          <a:p>
            <a:pPr>
              <a:spcAft>
                <a:spcPts val="1100"/>
              </a:spcAft>
              <a:defRPr sz="1300">
                <a:solidFill>
                  <a:srgbClr val="233046"/>
                </a:solidFill>
                <a:latin typeface="Aptos"/>
              </a:defRPr>
            </a:pPr>
            <a:r>
              <a:t>•  Transforms text into TF-IDF features.</a:t>
            </a:r>
          </a:p>
          <a:p>
            <a:pPr>
              <a:spcAft>
                <a:spcPts val="1100"/>
              </a:spcAft>
              <a:defRPr sz="1300">
                <a:solidFill>
                  <a:srgbClr val="233046"/>
                </a:solidFill>
                <a:latin typeface="Aptos"/>
              </a:defRPr>
            </a:pPr>
            <a:r>
              <a:t>•  Returns the predicted class and, when supported, a probability value.</a:t>
            </a:r>
          </a:p>
        </p:txBody>
      </p:sp>
      <p:sp>
        <p:nvSpPr>
          <p:cNvPr id="17" name="TextBox 16"/>
          <p:cNvSpPr txBox="1"/>
          <p:nvPr/>
        </p:nvSpPr>
        <p:spPr>
          <a:xfrm>
            <a:off x="6812280" y="4709160"/>
            <a:ext cx="4297680" cy="320040"/>
          </a:xfrm>
          <a:prstGeom prst="rect">
            <a:avLst/>
          </a:prstGeom>
          <a:noFill/>
        </p:spPr>
        <p:txBody>
          <a:bodyPr wrap="none" lIns="36576" rIns="36576" tIns="36576" bIns="36576" anchor="t">
            <a:spAutoFit/>
          </a:bodyPr>
          <a:lstStyle/>
          <a:p>
            <a:pPr algn="l">
              <a:spcAft>
                <a:spcPts val="700"/>
              </a:spcAft>
              <a:defRPr sz="1500" b="1">
                <a:solidFill>
                  <a:srgbClr val="12203A"/>
                </a:solidFill>
                <a:latin typeface="Aptos"/>
              </a:defRPr>
            </a:pPr>
            <a:r>
              <a:t>RUN LOCALLY</a:t>
            </a:r>
          </a:p>
        </p:txBody>
      </p:sp>
      <p:sp>
        <p:nvSpPr>
          <p:cNvPr id="18" name="TextBox 17"/>
          <p:cNvSpPr txBox="1"/>
          <p:nvPr/>
        </p:nvSpPr>
        <p:spPr>
          <a:xfrm>
            <a:off x="6812280" y="5102352"/>
            <a:ext cx="4297680" cy="594360"/>
          </a:xfrm>
          <a:prstGeom prst="rect">
            <a:avLst/>
          </a:prstGeom>
          <a:noFill/>
        </p:spPr>
        <p:txBody>
          <a:bodyPr wrap="none" lIns="36576" rIns="36576" tIns="36576" bIns="36576" anchor="t">
            <a:spAutoFit/>
          </a:bodyPr>
          <a:lstStyle/>
          <a:p>
            <a:pPr algn="l">
              <a:spcAft>
                <a:spcPts val="700"/>
              </a:spcAft>
              <a:defRPr sz="1200" b="0">
                <a:solidFill>
                  <a:srgbClr val="233046"/>
                </a:solidFill>
                <a:latin typeface="Aptos"/>
              </a:defRPr>
            </a:pPr>
            <a:r>
              <a:t>1. pip install -r requirements.txt</a:t>
            </a:r>
          </a:p>
          <a:p>
            <a:pPr algn="l">
              <a:spcAft>
                <a:spcPts val="700"/>
              </a:spcAft>
              <a:defRPr sz="1200" b="0">
                <a:solidFill>
                  <a:srgbClr val="233046"/>
                </a:solidFill>
                <a:latin typeface="Aptos"/>
              </a:defRPr>
            </a:pPr>
            <a:r>
              <a:t>2. python disaster_tweet_classification.py</a:t>
            </a:r>
          </a:p>
          <a:p>
            <a:pPr algn="l">
              <a:spcAft>
                <a:spcPts val="700"/>
              </a:spcAft>
              <a:defRPr sz="1200" b="0">
                <a:solidFill>
                  <a:srgbClr val="233046"/>
                </a:solidFill>
                <a:latin typeface="Aptos"/>
              </a:defRPr>
            </a:pPr>
            <a:r>
              <a:t>3. python app.py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10698480" cy="438912"/>
          </a:xfrm>
          <a:prstGeom prst="rect">
            <a:avLst/>
          </a:prstGeom>
          <a:noFill/>
        </p:spPr>
        <p:txBody>
          <a:bodyPr wrap="none" lIns="36576" rIns="36576" tIns="36576" bIns="36576" anchor="t">
            <a:spAutoFit/>
          </a:bodyPr>
          <a:lstStyle/>
          <a:p>
            <a:pPr algn="l">
              <a:spcAft>
                <a:spcPts val="700"/>
              </a:spcAft>
              <a:defRPr sz="2600" b="1">
                <a:solidFill>
                  <a:srgbClr val="12203A"/>
                </a:solidFill>
                <a:latin typeface="Aptos"/>
              </a:defRPr>
            </a:pPr>
            <a:r>
              <a:t>Limitations &amp; future improvements</a:t>
            </a:r>
          </a:p>
        </p:txBody>
      </p:sp>
      <p:sp>
        <p:nvSpPr>
          <p:cNvPr id="3" name="TextBox 2"/>
          <p:cNvSpPr txBox="1"/>
          <p:nvPr/>
        </p:nvSpPr>
        <p:spPr>
          <a:xfrm>
            <a:off x="594360" y="758952"/>
            <a:ext cx="10789920" cy="274320"/>
          </a:xfrm>
          <a:prstGeom prst="rect">
            <a:avLst/>
          </a:prstGeom>
          <a:noFill/>
        </p:spPr>
        <p:txBody>
          <a:bodyPr wrap="none" lIns="36576" rIns="36576" tIns="36576" bIns="36576" anchor="t">
            <a:spAutoFit/>
          </a:bodyPr>
          <a:lstStyle/>
          <a:p>
            <a:pPr algn="l">
              <a:spcAft>
                <a:spcPts val="700"/>
              </a:spcAft>
              <a:defRPr sz="1000" b="0">
                <a:solidFill>
                  <a:srgbClr val="637387"/>
                </a:solidFill>
                <a:latin typeface="Aptos"/>
              </a:defRPr>
            </a:pPr>
            <a:r>
              <a:t>What should happen before operational deployment?</a:t>
            </a:r>
          </a:p>
        </p:txBody>
      </p:sp>
      <p:sp>
        <p:nvSpPr>
          <p:cNvPr id="4" name="Rectangle 3"/>
          <p:cNvSpPr/>
          <p:nvPr/>
        </p:nvSpPr>
        <p:spPr>
          <a:xfrm>
            <a:off x="594360" y="1115568"/>
            <a:ext cx="658368" cy="50292"/>
          </a:xfrm>
          <a:prstGeom prst="rect">
            <a:avLst/>
          </a:prstGeom>
          <a:solidFill>
            <a:srgbClr val="1CA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92840" y="6473952"/>
            <a:ext cx="365760" cy="182880"/>
          </a:xfrm>
          <a:prstGeom prst="rect">
            <a:avLst/>
          </a:prstGeom>
          <a:noFill/>
        </p:spPr>
        <p:txBody>
          <a:bodyPr wrap="none" lIns="36576" rIns="36576" tIns="36576" bIns="36576" anchor="t">
            <a:spAutoFit/>
          </a:bodyPr>
          <a:lstStyle/>
          <a:p>
            <a:pPr algn="r">
              <a:spcAft>
                <a:spcPts val="700"/>
              </a:spcAft>
              <a:defRPr sz="900" b="1">
                <a:solidFill>
                  <a:srgbClr val="637387"/>
                </a:solidFill>
                <a:latin typeface="Aptos"/>
              </a:defRPr>
            </a:pPr>
            <a:r>
              <a:t>12</a:t>
            </a:r>
          </a:p>
        </p:txBody>
      </p:sp>
      <p:sp>
        <p:nvSpPr>
          <p:cNvPr id="6" name="Rounded Rectangle 5"/>
          <p:cNvSpPr/>
          <p:nvPr/>
        </p:nvSpPr>
        <p:spPr>
          <a:xfrm>
            <a:off x="731520" y="1508760"/>
            <a:ext cx="5166360" cy="1371600"/>
          </a:xfrm>
          <a:prstGeom prst="roundRect">
            <a:avLst/>
          </a:prstGeom>
          <a:solidFill>
            <a:srgbClr val="EFF5F9"/>
          </a:solidFill>
          <a:ln>
            <a:solidFill>
              <a:srgbClr val="DE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08760"/>
            <a:ext cx="73152" cy="1371600"/>
          </a:xfrm>
          <a:prstGeom prst="rect">
            <a:avLst/>
          </a:prstGeom>
          <a:solidFill>
            <a:srgbClr val="EB99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1655063"/>
            <a:ext cx="4818888" cy="320040"/>
          </a:xfrm>
          <a:prstGeom prst="rect">
            <a:avLst/>
          </a:prstGeom>
          <a:noFill/>
        </p:spPr>
        <p:txBody>
          <a:bodyPr wrap="none" lIns="36576" rIns="36576" tIns="36576" bIns="36576" anchor="t">
            <a:spAutoFit/>
          </a:bodyPr>
          <a:lstStyle/>
          <a:p>
            <a:pPr algn="l">
              <a:spcAft>
                <a:spcPts val="700"/>
              </a:spcAft>
              <a:defRPr sz="1600" b="1">
                <a:solidFill>
                  <a:srgbClr val="12203A"/>
                </a:solidFill>
                <a:latin typeface="Aptos"/>
              </a:defRPr>
            </a:pPr>
            <a:r>
              <a:t>Current limitations</a:t>
            </a:r>
          </a:p>
        </p:txBody>
      </p:sp>
      <p:sp>
        <p:nvSpPr>
          <p:cNvPr id="9" name="TextBox 8"/>
          <p:cNvSpPr txBox="1"/>
          <p:nvPr/>
        </p:nvSpPr>
        <p:spPr>
          <a:xfrm>
            <a:off x="932688" y="2048255"/>
            <a:ext cx="4800600" cy="749808"/>
          </a:xfrm>
          <a:prstGeom prst="rect">
            <a:avLst/>
          </a:prstGeom>
          <a:noFill/>
        </p:spPr>
        <p:txBody>
          <a:bodyPr wrap="none" lIns="36576" rIns="36576" tIns="36576" bIns="36576" anchor="t">
            <a:spAutoFit/>
          </a:bodyPr>
          <a:lstStyle/>
          <a:p>
            <a:pPr algn="l">
              <a:spcAft>
                <a:spcPts val="700"/>
              </a:spcAft>
              <a:defRPr sz="1300" b="0">
                <a:solidFill>
                  <a:srgbClr val="233046"/>
                </a:solidFill>
                <a:latin typeface="Aptos"/>
              </a:defRPr>
            </a:pPr>
            <a:r>
              <a:t>Text-only classifier; figurative language and context can be difficult. Dataset coverage and label quality may limit generalization.</a:t>
            </a:r>
          </a:p>
        </p:txBody>
      </p:sp>
      <p:sp>
        <p:nvSpPr>
          <p:cNvPr id="10" name="Rounded Rectangle 9"/>
          <p:cNvSpPr/>
          <p:nvPr/>
        </p:nvSpPr>
        <p:spPr>
          <a:xfrm>
            <a:off x="6263640" y="1508760"/>
            <a:ext cx="5166360" cy="1371600"/>
          </a:xfrm>
          <a:prstGeom prst="roundRect">
            <a:avLst/>
          </a:prstGeom>
          <a:solidFill>
            <a:srgbClr val="EFF5F9"/>
          </a:solidFill>
          <a:ln>
            <a:solidFill>
              <a:srgbClr val="DE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1508760"/>
            <a:ext cx="73152" cy="1371600"/>
          </a:xfrm>
          <a:prstGeom prst="rect">
            <a:avLst/>
          </a:prstGeom>
          <a:solidFill>
            <a:srgbClr val="CD59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7" y="1655063"/>
            <a:ext cx="4818888" cy="320040"/>
          </a:xfrm>
          <a:prstGeom prst="rect">
            <a:avLst/>
          </a:prstGeom>
          <a:noFill/>
        </p:spPr>
        <p:txBody>
          <a:bodyPr wrap="none" lIns="36576" rIns="36576" tIns="36576" bIns="36576" anchor="t">
            <a:spAutoFit/>
          </a:bodyPr>
          <a:lstStyle/>
          <a:p>
            <a:pPr algn="l">
              <a:spcAft>
                <a:spcPts val="700"/>
              </a:spcAft>
              <a:defRPr sz="1600" b="1">
                <a:solidFill>
                  <a:srgbClr val="12203A"/>
                </a:solidFill>
                <a:latin typeface="Aptos"/>
              </a:defRPr>
            </a:pPr>
            <a:r>
              <a:t>Human verification</a:t>
            </a:r>
          </a:p>
        </p:txBody>
      </p:sp>
      <p:sp>
        <p:nvSpPr>
          <p:cNvPr id="13" name="TextBox 12"/>
          <p:cNvSpPr txBox="1"/>
          <p:nvPr/>
        </p:nvSpPr>
        <p:spPr>
          <a:xfrm>
            <a:off x="6464807" y="2048255"/>
            <a:ext cx="4800600" cy="749808"/>
          </a:xfrm>
          <a:prstGeom prst="rect">
            <a:avLst/>
          </a:prstGeom>
          <a:noFill/>
        </p:spPr>
        <p:txBody>
          <a:bodyPr wrap="none" lIns="36576" rIns="36576" tIns="36576" bIns="36576" anchor="t">
            <a:spAutoFit/>
          </a:bodyPr>
          <a:lstStyle/>
          <a:p>
            <a:pPr algn="l">
              <a:spcAft>
                <a:spcPts val="700"/>
              </a:spcAft>
              <a:defRPr sz="1300" b="0">
                <a:solidFill>
                  <a:srgbClr val="233046"/>
                </a:solidFill>
                <a:latin typeface="Aptos"/>
              </a:defRPr>
            </a:pPr>
            <a:r>
              <a:t>A model prediction is not confirmation of an actual emergency. Verify through trusted sources and trained responders.</a:t>
            </a:r>
          </a:p>
        </p:txBody>
      </p:sp>
      <p:sp>
        <p:nvSpPr>
          <p:cNvPr id="14" name="TextBox 13"/>
          <p:cNvSpPr txBox="1"/>
          <p:nvPr/>
        </p:nvSpPr>
        <p:spPr>
          <a:xfrm>
            <a:off x="822960" y="3337560"/>
            <a:ext cx="10332720" cy="365760"/>
          </a:xfrm>
          <a:prstGeom prst="rect">
            <a:avLst/>
          </a:prstGeom>
          <a:noFill/>
        </p:spPr>
        <p:txBody>
          <a:bodyPr wrap="none" lIns="36576" rIns="36576" tIns="36576" bIns="36576" anchor="t">
            <a:spAutoFit/>
          </a:bodyPr>
          <a:lstStyle/>
          <a:p>
            <a:pPr algn="l">
              <a:spcAft>
                <a:spcPts val="700"/>
              </a:spcAft>
              <a:defRPr sz="1500" b="1">
                <a:solidFill>
                  <a:srgbClr val="12203A"/>
                </a:solidFill>
                <a:latin typeface="Aptos"/>
              </a:defRPr>
            </a:pPr>
            <a:r>
              <a:t>RECOMMENDED NEXT STEPS</a:t>
            </a:r>
          </a:p>
        </p:txBody>
      </p:sp>
      <p:sp>
        <p:nvSpPr>
          <p:cNvPr id="15" name="TextBox 14"/>
          <p:cNvSpPr txBox="1"/>
          <p:nvPr/>
        </p:nvSpPr>
        <p:spPr>
          <a:xfrm>
            <a:off x="822960" y="3749039"/>
            <a:ext cx="10424160" cy="2103120"/>
          </a:xfrm>
          <a:prstGeom prst="rect">
            <a:avLst/>
          </a:prstGeom>
          <a:noFill/>
        </p:spPr>
        <p:txBody>
          <a:bodyPr wrap="none" lIns="54864" rIns="54864" tIns="27432" bIns="27432">
            <a:spAutoFit/>
          </a:bodyPr>
          <a:lstStyle/>
          <a:p>
            <a:pPr>
              <a:spcAft>
                <a:spcPts val="1100"/>
              </a:spcAft>
              <a:defRPr sz="1400">
                <a:solidFill>
                  <a:srgbClr val="233046"/>
                </a:solidFill>
                <a:latin typeface="Aptos"/>
              </a:defRPr>
            </a:pPr>
            <a:r>
              <a:t>•  Review false negatives and false positives; tune the decision threshold for the intended use case.</a:t>
            </a:r>
          </a:p>
          <a:p>
            <a:pPr>
              <a:spcAft>
                <a:spcPts val="1100"/>
              </a:spcAft>
              <a:defRPr sz="1400">
                <a:solidFill>
                  <a:srgbClr val="233046"/>
                </a:solidFill>
                <a:latin typeface="Aptos"/>
              </a:defRPr>
            </a:pPr>
            <a:r>
              <a:t>•  Validate on newer, geographically diverse tweets and monitor performance drift.</a:t>
            </a:r>
          </a:p>
          <a:p>
            <a:pPr>
              <a:spcAft>
                <a:spcPts val="1100"/>
              </a:spcAft>
              <a:defRPr sz="1400">
                <a:solidFill>
                  <a:srgbClr val="233046"/>
                </a:solidFill>
                <a:latin typeface="Aptos"/>
              </a:defRPr>
            </a:pPr>
            <a:r>
              <a:t>•  Compare with stronger text models and add contextual signals only when justified.</a:t>
            </a:r>
          </a:p>
          <a:p>
            <a:pPr>
              <a:spcAft>
                <a:spcPts val="1100"/>
              </a:spcAft>
              <a:defRPr sz="1400">
                <a:solidFill>
                  <a:srgbClr val="233046"/>
                </a:solidFill>
                <a:latin typeface="Aptos"/>
              </a:defRPr>
            </a:pPr>
            <a:r>
              <a:t>•  Add logging, versioning, monitoring, tests, and clear human-in-the-loop escalation.</a:t>
            </a:r>
          </a:p>
        </p:txBody>
      </p:sp>
      <p:sp>
        <p:nvSpPr>
          <p:cNvPr id="16" name="TextBox 15"/>
          <p:cNvSpPr txBox="1"/>
          <p:nvPr/>
        </p:nvSpPr>
        <p:spPr>
          <a:xfrm>
            <a:off x="822960" y="6080760"/>
            <a:ext cx="10241280" cy="274320"/>
          </a:xfrm>
          <a:prstGeom prst="rect">
            <a:avLst/>
          </a:prstGeom>
          <a:noFill/>
        </p:spPr>
        <p:txBody>
          <a:bodyPr wrap="none" lIns="36576" rIns="36576" tIns="36576" bIns="36576" anchor="t">
            <a:spAutoFit/>
          </a:bodyPr>
          <a:lstStyle/>
          <a:p>
            <a:pPr algn="l">
              <a:spcAft>
                <a:spcPts val="700"/>
              </a:spcAft>
              <a:defRPr sz="900" b="0">
                <a:solidFill>
                  <a:srgbClr val="637387"/>
                </a:solidFill>
                <a:latin typeface="Aptos"/>
              </a:defRPr>
            </a:pPr>
            <a:r>
              <a:t>Technical note: in this runtime, the supplied training script stopped during Seaborn chart creation due to a plotting-library compatibility issue; the model metrics above were independently reproduced with the same split and model settings.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2203A"/>
        </a:solidFill>
        <a:effectLst/>
      </p:bgPr>
    </p:bg>
    <p:spTree>
      <p:nvGrpSpPr>
        <p:cNvPr id="1" name=""/>
        <p:cNvGrpSpPr/>
        <p:nvPr/>
      </p:nvGrpSpPr>
      <p:grpSpPr/>
      <p:sp>
        <p:nvSpPr>
          <p:cNvPr id="2" name="Rounded Rectangle 1"/>
          <p:cNvSpPr/>
          <p:nvPr/>
        </p:nvSpPr>
        <p:spPr>
          <a:xfrm>
            <a:off x="777240" y="731520"/>
            <a:ext cx="1143000" cy="310896"/>
          </a:xfrm>
          <a:prstGeom prst="roundRect">
            <a:avLst/>
          </a:prstGeom>
          <a:solidFill>
            <a:srgbClr val="1CA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3816" y="749808"/>
            <a:ext cx="1069848" cy="237744"/>
          </a:xfrm>
          <a:prstGeom prst="rect">
            <a:avLst/>
          </a:prstGeom>
          <a:noFill/>
        </p:spPr>
        <p:txBody>
          <a:bodyPr wrap="none" lIns="36576" rIns="36576" tIns="36576" bIns="36576" anchor="ctr">
            <a:spAutoFit/>
          </a:bodyPr>
          <a:lstStyle/>
          <a:p>
            <a:pPr algn="ctr">
              <a:spcAft>
                <a:spcPts val="700"/>
              </a:spcAft>
              <a:defRPr sz="1000" b="1">
                <a:solidFill>
                  <a:srgbClr val="FFFFFF"/>
                </a:solidFill>
                <a:latin typeface="Aptos"/>
              </a:defRPr>
            </a:pPr>
            <a:r>
              <a:t>TAKEAWAYS</a:t>
            </a:r>
          </a:p>
        </p:txBody>
      </p:sp>
      <p:sp>
        <p:nvSpPr>
          <p:cNvPr id="4" name="TextBox 3"/>
          <p:cNvSpPr txBox="1"/>
          <p:nvPr/>
        </p:nvSpPr>
        <p:spPr>
          <a:xfrm>
            <a:off x="777240" y="1417320"/>
            <a:ext cx="9875520" cy="640080"/>
          </a:xfrm>
          <a:prstGeom prst="rect">
            <a:avLst/>
          </a:prstGeom>
          <a:noFill/>
        </p:spPr>
        <p:txBody>
          <a:bodyPr wrap="none" lIns="36576" rIns="36576" tIns="36576" bIns="36576" anchor="t">
            <a:spAutoFit/>
          </a:bodyPr>
          <a:lstStyle/>
          <a:p>
            <a:pPr algn="l">
              <a:spcAft>
                <a:spcPts val="700"/>
              </a:spcAft>
              <a:defRPr sz="2800" b="1">
                <a:solidFill>
                  <a:srgbClr val="FFFFFF"/>
                </a:solidFill>
                <a:latin typeface="Aptos"/>
              </a:defRPr>
            </a:pPr>
            <a:r>
              <a:t>From noisy text to actionable signal</a:t>
            </a:r>
          </a:p>
        </p:txBody>
      </p:sp>
      <p:sp>
        <p:nvSpPr>
          <p:cNvPr id="5" name="TextBox 4"/>
          <p:cNvSpPr txBox="1"/>
          <p:nvPr/>
        </p:nvSpPr>
        <p:spPr>
          <a:xfrm>
            <a:off x="868680" y="2331720"/>
            <a:ext cx="7863840" cy="2651760"/>
          </a:xfrm>
          <a:prstGeom prst="rect">
            <a:avLst/>
          </a:prstGeom>
          <a:noFill/>
        </p:spPr>
        <p:txBody>
          <a:bodyPr wrap="none" lIns="54864" rIns="54864" tIns="27432" bIns="27432">
            <a:spAutoFit/>
          </a:bodyPr>
          <a:lstStyle/>
          <a:p>
            <a:pPr>
              <a:spcAft>
                <a:spcPts val="1100"/>
              </a:spcAft>
              <a:defRPr sz="1700">
                <a:solidFill>
                  <a:srgbClr val="E2ECF4"/>
                </a:solidFill>
                <a:latin typeface="Aptos"/>
              </a:defRPr>
            </a:pPr>
            <a:r>
              <a:t>•  The project implements an end-to-end NLP workflow with text cleaning, TF-IDF, model comparison and Flask inference.</a:t>
            </a:r>
          </a:p>
          <a:p>
            <a:pPr>
              <a:spcAft>
                <a:spcPts val="1100"/>
              </a:spcAft>
              <a:defRPr sz="1700">
                <a:solidFill>
                  <a:srgbClr val="E2ECF4"/>
                </a:solidFill>
                <a:latin typeface="Aptos"/>
              </a:defRPr>
            </a:pPr>
            <a:r>
              <a:t>•  Logistic Regression achieved the highest F1 score in the reproduced evaluation (0.768).</a:t>
            </a:r>
          </a:p>
          <a:p>
            <a:pPr>
              <a:spcAft>
                <a:spcPts val="1100"/>
              </a:spcAft>
              <a:defRPr sz="1700">
                <a:solidFill>
                  <a:srgbClr val="E2ECF4"/>
                </a:solidFill>
                <a:latin typeface="Aptos"/>
              </a:defRPr>
            </a:pPr>
            <a:r>
              <a:t>•  A responsible deployment needs ongoing evaluation and human verification.</a:t>
            </a:r>
          </a:p>
        </p:txBody>
      </p:sp>
      <p:sp>
        <p:nvSpPr>
          <p:cNvPr id="6" name="TextBox 5"/>
          <p:cNvSpPr txBox="1"/>
          <p:nvPr/>
        </p:nvSpPr>
        <p:spPr>
          <a:xfrm>
            <a:off x="868680" y="5897880"/>
            <a:ext cx="7498079" cy="320040"/>
          </a:xfrm>
          <a:prstGeom prst="rect">
            <a:avLst/>
          </a:prstGeom>
          <a:noFill/>
        </p:spPr>
        <p:txBody>
          <a:bodyPr wrap="none" lIns="36576" rIns="36576" tIns="36576" bIns="36576" anchor="t">
            <a:spAutoFit/>
          </a:bodyPr>
          <a:lstStyle/>
          <a:p>
            <a:pPr algn="l">
              <a:spcAft>
                <a:spcPts val="700"/>
              </a:spcAft>
              <a:defRPr sz="1300" b="1">
                <a:solidFill>
                  <a:srgbClr val="5DC4DC"/>
                </a:solidFill>
                <a:latin typeface="Aptos"/>
              </a:defRPr>
            </a:pPr>
            <a:r>
              <a:t>THANK YOU  •  QUESTIONS</a:t>
            </a:r>
          </a:p>
        </p:txBody>
      </p:sp>
      <p:sp>
        <p:nvSpPr>
          <p:cNvPr id="7" name="Oval 6"/>
          <p:cNvSpPr/>
          <p:nvPr/>
        </p:nvSpPr>
        <p:spPr>
          <a:xfrm>
            <a:off x="9326880" y="1508760"/>
            <a:ext cx="1234440" cy="1234440"/>
          </a:xfrm>
          <a:prstGeom prst="ellipse">
            <a:avLst/>
          </a:prstGeom>
          <a:solidFill>
            <a:srgbClr val="1CA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149840" y="2743200"/>
            <a:ext cx="777240" cy="777240"/>
          </a:xfrm>
          <a:prstGeom prst="ellipse">
            <a:avLst/>
          </a:prstGeom>
          <a:solidFill>
            <a:srgbClr val="5DC4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686800" y="3794760"/>
            <a:ext cx="566928" cy="566928"/>
          </a:xfrm>
          <a:prstGeom prst="ellipse">
            <a:avLst/>
          </a:prstGeom>
          <a:solidFill>
            <a:srgbClr val="EB99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332720" y="4572000"/>
            <a:ext cx="960120" cy="960120"/>
          </a:xfrm>
          <a:prstGeom prst="ellipse">
            <a:avLst/>
          </a:prstGeom>
          <a:solidFill>
            <a:srgbClr val="3E9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